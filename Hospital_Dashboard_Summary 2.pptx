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66" r:id="rId15"/>
    <p:sldId id="26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48A36F-62F5-4A34-B9AF-14FB76C49E3D}" v="1" dt="2026-08-12T07:26:22.1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72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uwafemiayodeji000@outlook.com" userId="3938321afb213f2f" providerId="LiveId" clId="{32318D4E-C4DA-442A-ADD8-0D560914DD7D}"/>
    <pc:docChg chg="custSel addSld modSld">
      <pc:chgData name="oluwafemiayodeji000@outlook.com" userId="3938321afb213f2f" providerId="LiveId" clId="{32318D4E-C4DA-442A-ADD8-0D560914DD7D}" dt="2026-08-18T12:13:42.849" v="310" actId="1035"/>
      <pc:docMkLst>
        <pc:docMk/>
      </pc:docMkLst>
      <pc:sldChg chg="modSp mod">
        <pc:chgData name="oluwafemiayodeji000@outlook.com" userId="3938321afb213f2f" providerId="LiveId" clId="{32318D4E-C4DA-442A-ADD8-0D560914DD7D}" dt="2026-08-18T12:13:42.849" v="310" actId="1035"/>
        <pc:sldMkLst>
          <pc:docMk/>
          <pc:sldMk cId="0" sldId="256"/>
        </pc:sldMkLst>
        <pc:spChg chg="mod">
          <ac:chgData name="oluwafemiayodeji000@outlook.com" userId="3938321afb213f2f" providerId="LiveId" clId="{32318D4E-C4DA-442A-ADD8-0D560914DD7D}" dt="2026-08-18T12:13:42.849" v="310" actId="1035"/>
          <ac:spMkLst>
            <pc:docMk/>
            <pc:sldMk cId="0" sldId="256"/>
            <ac:spMk id="2" creationId="{00000000-0000-0000-0000-000000000000}"/>
          </ac:spMkLst>
        </pc:spChg>
        <pc:spChg chg="mod">
          <ac:chgData name="oluwafemiayodeji000@outlook.com" userId="3938321afb213f2f" providerId="LiveId" clId="{32318D4E-C4DA-442A-ADD8-0D560914DD7D}" dt="2026-08-18T12:13:42.849" v="310" actId="1035"/>
          <ac:spMkLst>
            <pc:docMk/>
            <pc:sldMk cId="0" sldId="256"/>
            <ac:spMk id="3" creationId="{00000000-0000-0000-0000-000000000000}"/>
          </ac:spMkLst>
        </pc:spChg>
        <pc:spChg chg="mod">
          <ac:chgData name="oluwafemiayodeji000@outlook.com" userId="3938321afb213f2f" providerId="LiveId" clId="{32318D4E-C4DA-442A-ADD8-0D560914DD7D}" dt="2026-08-18T12:13:42.849" v="310" actId="1035"/>
          <ac:spMkLst>
            <pc:docMk/>
            <pc:sldMk cId="0" sldId="256"/>
            <ac:spMk id="4" creationId="{00000000-0000-0000-0000-000000000000}"/>
          </ac:spMkLst>
        </pc:spChg>
        <pc:spChg chg="mod">
          <ac:chgData name="oluwafemiayodeji000@outlook.com" userId="3938321afb213f2f" providerId="LiveId" clId="{32318D4E-C4DA-442A-ADD8-0D560914DD7D}" dt="2026-08-18T12:13:42.849" v="310" actId="1035"/>
          <ac:spMkLst>
            <pc:docMk/>
            <pc:sldMk cId="0" sldId="256"/>
            <ac:spMk id="5" creationId="{00000000-0000-0000-0000-000000000000}"/>
          </ac:spMkLst>
        </pc:spChg>
        <pc:spChg chg="mod">
          <ac:chgData name="oluwafemiayodeji000@outlook.com" userId="3938321afb213f2f" providerId="LiveId" clId="{32318D4E-C4DA-442A-ADD8-0D560914DD7D}" dt="2026-08-18T12:13:42.849" v="310" actId="1035"/>
          <ac:spMkLst>
            <pc:docMk/>
            <pc:sldMk cId="0" sldId="256"/>
            <ac:spMk id="6" creationId="{00000000-0000-0000-0000-000000000000}"/>
          </ac:spMkLst>
        </pc:spChg>
        <pc:spChg chg="mod">
          <ac:chgData name="oluwafemiayodeji000@outlook.com" userId="3938321afb213f2f" providerId="LiveId" clId="{32318D4E-C4DA-442A-ADD8-0D560914DD7D}" dt="2026-08-18T12:13:42.849" v="310" actId="1035"/>
          <ac:spMkLst>
            <pc:docMk/>
            <pc:sldMk cId="0" sldId="256"/>
            <ac:spMk id="7" creationId="{00000000-0000-0000-0000-000000000000}"/>
          </ac:spMkLst>
        </pc:spChg>
      </pc:sldChg>
      <pc:sldChg chg="modSp mod">
        <pc:chgData name="oluwafemiayodeji000@outlook.com" userId="3938321afb213f2f" providerId="LiveId" clId="{32318D4E-C4DA-442A-ADD8-0D560914DD7D}" dt="2026-08-11T12:02:30.478" v="34" actId="1036"/>
        <pc:sldMkLst>
          <pc:docMk/>
          <pc:sldMk cId="0" sldId="258"/>
        </pc:sldMkLst>
        <pc:spChg chg="mod">
          <ac:chgData name="oluwafemiayodeji000@outlook.com" userId="3938321afb213f2f" providerId="LiveId" clId="{32318D4E-C4DA-442A-ADD8-0D560914DD7D}" dt="2026-08-11T12:02:30.478" v="34" actId="1036"/>
          <ac:spMkLst>
            <pc:docMk/>
            <pc:sldMk cId="0" sldId="258"/>
            <ac:spMk id="6" creationId="{00000000-0000-0000-0000-000000000000}"/>
          </ac:spMkLst>
        </pc:spChg>
      </pc:sldChg>
      <pc:sldChg chg="modSp mod">
        <pc:chgData name="oluwafemiayodeji000@outlook.com" userId="3938321afb213f2f" providerId="LiveId" clId="{32318D4E-C4DA-442A-ADD8-0D560914DD7D}" dt="2026-08-12T07:20:52.795" v="55" actId="20577"/>
        <pc:sldMkLst>
          <pc:docMk/>
          <pc:sldMk cId="0" sldId="263"/>
        </pc:sldMkLst>
        <pc:spChg chg="mod">
          <ac:chgData name="oluwafemiayodeji000@outlook.com" userId="3938321afb213f2f" providerId="LiveId" clId="{32318D4E-C4DA-442A-ADD8-0D560914DD7D}" dt="2026-08-12T07:20:52.795" v="55" actId="20577"/>
          <ac:spMkLst>
            <pc:docMk/>
            <pc:sldMk cId="0" sldId="263"/>
            <ac:spMk id="23" creationId="{00000000-0000-0000-0000-000000000000}"/>
          </ac:spMkLst>
        </pc:spChg>
      </pc:sldChg>
      <pc:sldChg chg="addSp delSp modSp mod">
        <pc:chgData name="oluwafemiayodeji000@outlook.com" userId="3938321afb213f2f" providerId="LiveId" clId="{32318D4E-C4DA-442A-ADD8-0D560914DD7D}" dt="2026-08-12T07:26:26.753" v="58"/>
        <pc:sldMkLst>
          <pc:docMk/>
          <pc:sldMk cId="0" sldId="265"/>
        </pc:sldMkLst>
        <pc:spChg chg="mod">
          <ac:chgData name="oluwafemiayodeji000@outlook.com" userId="3938321afb213f2f" providerId="LiveId" clId="{32318D4E-C4DA-442A-ADD8-0D560914DD7D}" dt="2026-08-11T07:35:32.103" v="22" actId="20577"/>
          <ac:spMkLst>
            <pc:docMk/>
            <pc:sldMk cId="0" sldId="265"/>
            <ac:spMk id="34" creationId="{00000000-0000-0000-0000-000000000000}"/>
          </ac:spMkLst>
        </pc:spChg>
      </pc:sldChg>
      <pc:sldChg chg="addSp delSp modSp new mod">
        <pc:chgData name="oluwafemiayodeji000@outlook.com" userId="3938321afb213f2f" providerId="LiveId" clId="{32318D4E-C4DA-442A-ADD8-0D560914DD7D}" dt="2026-08-12T11:09:53.761" v="107" actId="1036"/>
        <pc:sldMkLst>
          <pc:docMk/>
          <pc:sldMk cId="2291132301" sldId="268"/>
        </pc:sldMkLst>
        <pc:picChg chg="add mod">
          <ac:chgData name="oluwafemiayodeji000@outlook.com" userId="3938321afb213f2f" providerId="LiveId" clId="{32318D4E-C4DA-442A-ADD8-0D560914DD7D}" dt="2026-08-12T11:09:53.761" v="107" actId="1036"/>
          <ac:picMkLst>
            <pc:docMk/>
            <pc:sldMk cId="2291132301" sldId="268"/>
            <ac:picMk id="4" creationId="{71B16F2D-B808-BAA8-CC3B-33879CF6241D}"/>
          </ac:picMkLst>
        </pc:picChg>
      </pc:sldChg>
      <pc:sldChg chg="addSp modSp new mod">
        <pc:chgData name="oluwafemiayodeji000@outlook.com" userId="3938321afb213f2f" providerId="LiveId" clId="{32318D4E-C4DA-442A-ADD8-0D560914DD7D}" dt="2026-08-12T08:59:53.963" v="59" actId="931"/>
        <pc:sldMkLst>
          <pc:docMk/>
          <pc:sldMk cId="641525171" sldId="269"/>
        </pc:sldMkLst>
        <pc:picChg chg="add mod">
          <ac:chgData name="oluwafemiayodeji000@outlook.com" userId="3938321afb213f2f" providerId="LiveId" clId="{32318D4E-C4DA-442A-ADD8-0D560914DD7D}" dt="2026-08-11T07:46:27.603" v="29" actId="931"/>
          <ac:picMkLst>
            <pc:docMk/>
            <pc:sldMk cId="641525171" sldId="269"/>
            <ac:picMk id="3" creationId="{16532798-97FE-C542-DEEF-5997C12014C4}"/>
          </ac:picMkLst>
        </pc:picChg>
        <pc:picChg chg="add mod">
          <ac:chgData name="oluwafemiayodeji000@outlook.com" userId="3938321afb213f2f" providerId="LiveId" clId="{32318D4E-C4DA-442A-ADD8-0D560914DD7D}" dt="2026-08-12T08:59:53.963" v="59" actId="931"/>
          <ac:picMkLst>
            <pc:docMk/>
            <pc:sldMk cId="641525171" sldId="269"/>
            <ac:picMk id="4" creationId="{6768A50B-7746-CFCE-1ED6-CD36DB7C288A}"/>
          </ac:picMkLst>
        </pc:picChg>
      </pc:sldChg>
      <pc:sldChg chg="addSp modSp new mod">
        <pc:chgData name="oluwafemiayodeji000@outlook.com" userId="3938321afb213f2f" providerId="LiveId" clId="{32318D4E-C4DA-442A-ADD8-0D560914DD7D}" dt="2026-08-12T09:00:32.250" v="60" actId="931"/>
        <pc:sldMkLst>
          <pc:docMk/>
          <pc:sldMk cId="1694236587" sldId="270"/>
        </pc:sldMkLst>
        <pc:picChg chg="add mod">
          <ac:chgData name="oluwafemiayodeji000@outlook.com" userId="3938321afb213f2f" providerId="LiveId" clId="{32318D4E-C4DA-442A-ADD8-0D560914DD7D}" dt="2026-08-11T07:46:52.528" v="30" actId="931"/>
          <ac:picMkLst>
            <pc:docMk/>
            <pc:sldMk cId="1694236587" sldId="270"/>
            <ac:picMk id="3" creationId="{44A38C75-6EAF-67A9-E083-1CD087E1FB25}"/>
          </ac:picMkLst>
        </pc:picChg>
        <pc:picChg chg="add mod">
          <ac:chgData name="oluwafemiayodeji000@outlook.com" userId="3938321afb213f2f" providerId="LiveId" clId="{32318D4E-C4DA-442A-ADD8-0D560914DD7D}" dt="2026-08-12T09:00:32.250" v="60" actId="931"/>
          <ac:picMkLst>
            <pc:docMk/>
            <pc:sldMk cId="1694236587" sldId="270"/>
            <ac:picMk id="4" creationId="{5C6DA577-745E-4A0A-F895-5CE4D0F7879F}"/>
          </ac:picMkLst>
        </pc:picChg>
        <pc:picChg chg="add mod">
          <ac:chgData name="oluwafemiayodeji000@outlook.com" userId="3938321afb213f2f" providerId="LiveId" clId="{32318D4E-C4DA-442A-ADD8-0D560914DD7D}" dt="2026-08-11T07:49:24.003" v="31" actId="931"/>
          <ac:picMkLst>
            <pc:docMk/>
            <pc:sldMk cId="1694236587" sldId="270"/>
            <ac:picMk id="5" creationId="{1F97A365-AFB9-6741-C627-AC561BA89166}"/>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B1A"/>
                </a:solidFill>
                <a:latin typeface="Calibri"/>
              </a:defRPr>
            </a:pPr>
            <a:r>
              <a:rPr lang="en-US" sz="1400" b="0" i="0" u="none" strike="noStrike">
                <a:solidFill>
                  <a:srgbClr val="1F2B1A"/>
                </a:solidFill>
                <a:latin typeface="Calibri"/>
              </a:rPr>
              <a:t>Total Patients by Department</a:t>
            </a:r>
          </a:p>
        </c:rich>
      </c:tx>
      <c:overlay val="0"/>
    </c:title>
    <c:autoTitleDeleted val="0"/>
    <c:plotArea>
      <c:layout/>
      <c:barChart>
        <c:barDir val="col"/>
        <c:grouping val="clustered"/>
        <c:varyColors val="0"/>
        <c:ser>
          <c:idx val="0"/>
          <c:order val="0"/>
          <c:tx>
            <c:strRef>
              <c:f>Sheet1!$B$1</c:f>
              <c:strCache>
                <c:ptCount val="1"/>
                <c:pt idx="0">
                  <c:v>Patients</c:v>
                </c:pt>
              </c:strCache>
            </c:strRef>
          </c:tx>
          <c:spPr>
            <a:solidFill>
              <a:srgbClr val="2C5F2D"/>
            </a:solidFill>
            <a:effectLst/>
          </c:spPr>
          <c:invertIfNegative val="0"/>
          <c:dLbls>
            <c:numFmt formatCode="#,##0" sourceLinked="0"/>
            <c:spPr>
              <a:noFill/>
              <a:ln>
                <a:noFill/>
              </a:ln>
              <a:effectLst/>
            </c:spPr>
            <c:txPr>
              <a:bodyPr/>
              <a:lstStyle/>
              <a:p>
                <a:pPr>
                  <a:defRPr sz="1000" b="0" i="0" u="none" strike="noStrike">
                    <a:solidFill>
                      <a:srgbClr val="1F2B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Emergency</c:v>
                </c:pt>
                <c:pt idx="1">
                  <c:v>Surgery</c:v>
                </c:pt>
                <c:pt idx="2">
                  <c:v>Cardiology</c:v>
                </c:pt>
                <c:pt idx="3">
                  <c:v>Orthopedics</c:v>
                </c:pt>
                <c:pt idx="4">
                  <c:v>Pediatrics</c:v>
                </c:pt>
                <c:pt idx="5">
                  <c:v>Neurology</c:v>
                </c:pt>
                <c:pt idx="6">
                  <c:v>ICU</c:v>
                </c:pt>
                <c:pt idx="7">
                  <c:v>Oncology</c:v>
                </c:pt>
              </c:strCache>
            </c:strRef>
          </c:cat>
          <c:val>
            <c:numRef>
              <c:f>Sheet1!$B$2:$B$9</c:f>
              <c:numCache>
                <c:formatCode>General</c:formatCode>
                <c:ptCount val="8"/>
                <c:pt idx="0">
                  <c:v>192</c:v>
                </c:pt>
                <c:pt idx="1">
                  <c:v>153</c:v>
                </c:pt>
                <c:pt idx="2">
                  <c:v>137</c:v>
                </c:pt>
                <c:pt idx="3">
                  <c:v>130</c:v>
                </c:pt>
                <c:pt idx="4">
                  <c:v>120</c:v>
                </c:pt>
                <c:pt idx="5">
                  <c:v>101</c:v>
                </c:pt>
                <c:pt idx="6">
                  <c:v>85</c:v>
                </c:pt>
                <c:pt idx="7">
                  <c:v>82</c:v>
                </c:pt>
              </c:numCache>
            </c:numRef>
          </c:val>
          <c:extLst>
            <c:ext xmlns:c16="http://schemas.microsoft.com/office/drawing/2014/chart" uri="{C3380CC4-5D6E-409C-BE32-E72D297353CC}">
              <c16:uniqueId val="{00000000-3CAC-4227-B14D-8371F46214A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55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DE7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65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2B1A"/>
                </a:solidFill>
                <a:latin typeface="Calibri"/>
              </a:defRPr>
            </a:pPr>
            <a:r>
              <a:rPr lang="en-US" sz="1300" b="0" i="0" u="none" strike="noStrike">
                <a:solidFill>
                  <a:srgbClr val="1F2B1A"/>
                </a:solidFill>
                <a:latin typeface="Calibri"/>
              </a:rPr>
              <a:t>Readmission Rate by Admission Month (approx., from dashboard)</a:t>
            </a:r>
          </a:p>
        </c:rich>
      </c:tx>
      <c:overlay val="0"/>
    </c:title>
    <c:autoTitleDeleted val="0"/>
    <c:plotArea>
      <c:layout/>
      <c:barChart>
        <c:barDir val="col"/>
        <c:grouping val="clustered"/>
        <c:varyColors val="0"/>
        <c:ser>
          <c:idx val="0"/>
          <c:order val="0"/>
          <c:tx>
            <c:strRef>
              <c:f>Sheet1!$B$1</c:f>
              <c:strCache>
                <c:ptCount val="1"/>
                <c:pt idx="0">
                  <c:v>Readmission Rate</c:v>
                </c:pt>
              </c:strCache>
            </c:strRef>
          </c:tx>
          <c:spPr>
            <a:solidFill>
              <a:srgbClr val="6FA766"/>
            </a:solidFill>
            <a:effectLst/>
          </c:spPr>
          <c:invertIfNegative val="0"/>
          <c:dPt>
            <c:idx val="0"/>
            <c:invertIfNegative val="0"/>
            <c:bubble3D val="0"/>
            <c:extLst>
              <c:ext xmlns:c16="http://schemas.microsoft.com/office/drawing/2014/chart" uri="{C3380CC4-5D6E-409C-BE32-E72D297353CC}">
                <c16:uniqueId val="{00000001-ED00-4B46-A7D8-F98A1856D287}"/>
              </c:ext>
            </c:extLst>
          </c:dPt>
          <c:dPt>
            <c:idx val="1"/>
            <c:invertIfNegative val="0"/>
            <c:bubble3D val="0"/>
            <c:extLst>
              <c:ext xmlns:c16="http://schemas.microsoft.com/office/drawing/2014/chart" uri="{C3380CC4-5D6E-409C-BE32-E72D297353CC}">
                <c16:uniqueId val="{00000003-ED00-4B46-A7D8-F98A1856D287}"/>
              </c:ext>
            </c:extLst>
          </c:dPt>
          <c:dPt>
            <c:idx val="2"/>
            <c:invertIfNegative val="0"/>
            <c:bubble3D val="0"/>
            <c:extLst>
              <c:ext xmlns:c16="http://schemas.microsoft.com/office/drawing/2014/chart" uri="{C3380CC4-5D6E-409C-BE32-E72D297353CC}">
                <c16:uniqueId val="{00000005-ED00-4B46-A7D8-F98A1856D287}"/>
              </c:ext>
            </c:extLst>
          </c:dPt>
          <c:dPt>
            <c:idx val="3"/>
            <c:invertIfNegative val="0"/>
            <c:bubble3D val="0"/>
            <c:extLst>
              <c:ext xmlns:c16="http://schemas.microsoft.com/office/drawing/2014/chart" uri="{C3380CC4-5D6E-409C-BE32-E72D297353CC}">
                <c16:uniqueId val="{00000007-ED00-4B46-A7D8-F98A1856D287}"/>
              </c:ext>
            </c:extLst>
          </c:dPt>
          <c:dPt>
            <c:idx val="4"/>
            <c:invertIfNegative val="0"/>
            <c:bubble3D val="0"/>
            <c:extLst>
              <c:ext xmlns:c16="http://schemas.microsoft.com/office/drawing/2014/chart" uri="{C3380CC4-5D6E-409C-BE32-E72D297353CC}">
                <c16:uniqueId val="{00000009-ED00-4B46-A7D8-F98A1856D287}"/>
              </c:ext>
            </c:extLst>
          </c:dPt>
          <c:dPt>
            <c:idx val="5"/>
            <c:invertIfNegative val="0"/>
            <c:bubble3D val="0"/>
            <c:extLst>
              <c:ext xmlns:c16="http://schemas.microsoft.com/office/drawing/2014/chart" uri="{C3380CC4-5D6E-409C-BE32-E72D297353CC}">
                <c16:uniqueId val="{0000000B-ED00-4B46-A7D8-F98A1856D287}"/>
              </c:ext>
            </c:extLst>
          </c:dPt>
          <c:dPt>
            <c:idx val="6"/>
            <c:invertIfNegative val="0"/>
            <c:bubble3D val="0"/>
            <c:extLst>
              <c:ext xmlns:c16="http://schemas.microsoft.com/office/drawing/2014/chart" uri="{C3380CC4-5D6E-409C-BE32-E72D297353CC}">
                <c16:uniqueId val="{0000000D-ED00-4B46-A7D8-F98A1856D287}"/>
              </c:ext>
            </c:extLst>
          </c:dPt>
          <c:dPt>
            <c:idx val="7"/>
            <c:invertIfNegative val="0"/>
            <c:bubble3D val="0"/>
            <c:extLst>
              <c:ext xmlns:c16="http://schemas.microsoft.com/office/drawing/2014/chart" uri="{C3380CC4-5D6E-409C-BE32-E72D297353CC}">
                <c16:uniqueId val="{0000000F-ED00-4B46-A7D8-F98A1856D287}"/>
              </c:ext>
            </c:extLst>
          </c:dPt>
          <c:dPt>
            <c:idx val="8"/>
            <c:invertIfNegative val="0"/>
            <c:bubble3D val="0"/>
            <c:spPr>
              <a:solidFill>
                <a:srgbClr val="2C5F2D"/>
              </a:solidFill>
              <a:effectLst/>
            </c:spPr>
            <c:extLst>
              <c:ext xmlns:c16="http://schemas.microsoft.com/office/drawing/2014/chart" uri="{C3380CC4-5D6E-409C-BE32-E72D297353CC}">
                <c16:uniqueId val="{00000011-ED00-4B46-A7D8-F98A1856D287}"/>
              </c:ext>
            </c:extLst>
          </c:dPt>
          <c:dPt>
            <c:idx val="9"/>
            <c:invertIfNegative val="0"/>
            <c:bubble3D val="0"/>
            <c:extLst>
              <c:ext xmlns:c16="http://schemas.microsoft.com/office/drawing/2014/chart" uri="{C3380CC4-5D6E-409C-BE32-E72D297353CC}">
                <c16:uniqueId val="{00000013-ED00-4B46-A7D8-F98A1856D287}"/>
              </c:ext>
            </c:extLst>
          </c:dPt>
          <c:dPt>
            <c:idx val="10"/>
            <c:invertIfNegative val="0"/>
            <c:bubble3D val="0"/>
            <c:extLst>
              <c:ext xmlns:c16="http://schemas.microsoft.com/office/drawing/2014/chart" uri="{C3380CC4-5D6E-409C-BE32-E72D297353CC}">
                <c16:uniqueId val="{00000015-ED00-4B46-A7D8-F98A1856D287}"/>
              </c:ext>
            </c:extLst>
          </c:dPt>
          <c:dPt>
            <c:idx val="11"/>
            <c:invertIfNegative val="0"/>
            <c:bubble3D val="0"/>
            <c:extLst>
              <c:ext xmlns:c16="http://schemas.microsoft.com/office/drawing/2014/chart" uri="{C3380CC4-5D6E-409C-BE32-E72D297353CC}">
                <c16:uniqueId val="{00000017-ED00-4B46-A7D8-F98A1856D287}"/>
              </c:ext>
            </c:extLst>
          </c:dPt>
          <c:dLbls>
            <c:numFmt formatCode="0&quot;%&quot;" sourceLinked="0"/>
            <c:spPr>
              <a:noFill/>
              <a:ln>
                <a:noFill/>
              </a:ln>
              <a:effectLst/>
            </c:spPr>
            <c:txPr>
              <a:bodyPr/>
              <a:lstStyle/>
              <a:p>
                <a:pPr>
                  <a:defRPr sz="950" b="0" i="0" u="none" strike="noStrike">
                    <a:solidFill>
                      <a:srgbClr val="1F2B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25</c:v>
                </c:pt>
                <c:pt idx="1">
                  <c:v>22</c:v>
                </c:pt>
                <c:pt idx="2">
                  <c:v>19</c:v>
                </c:pt>
                <c:pt idx="3">
                  <c:v>20.5</c:v>
                </c:pt>
                <c:pt idx="4">
                  <c:v>17</c:v>
                </c:pt>
                <c:pt idx="5">
                  <c:v>23.5</c:v>
                </c:pt>
                <c:pt idx="6">
                  <c:v>18</c:v>
                </c:pt>
                <c:pt idx="7">
                  <c:v>16.5</c:v>
                </c:pt>
                <c:pt idx="8">
                  <c:v>29.5</c:v>
                </c:pt>
                <c:pt idx="9">
                  <c:v>26</c:v>
                </c:pt>
                <c:pt idx="10">
                  <c:v>22.5</c:v>
                </c:pt>
                <c:pt idx="11">
                  <c:v>25.5</c:v>
                </c:pt>
              </c:numCache>
            </c:numRef>
          </c:val>
          <c:extLst>
            <c:ext xmlns:c16="http://schemas.microsoft.com/office/drawing/2014/chart" uri="{C3380CC4-5D6E-409C-BE32-E72D297353CC}">
              <c16:uniqueId val="{00000018-ED00-4B46-A7D8-F98A1856D28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55A"/>
                </a:solidFill>
                <a:latin typeface="Arial"/>
              </a:defRPr>
            </a:pPr>
            <a:endParaRPr lang="en-US"/>
          </a:p>
        </c:txPr>
        <c:crossAx val="2094734552"/>
        <c:crosses val="autoZero"/>
        <c:auto val="1"/>
        <c:lblAlgn val="ctr"/>
        <c:lblOffset val="100"/>
        <c:noMultiLvlLbl val="1"/>
      </c:catAx>
      <c:valAx>
        <c:axId val="2094734552"/>
        <c:scaling>
          <c:orientation val="minMax"/>
          <c:max val="32"/>
          <c:min val="0"/>
        </c:scaling>
        <c:delete val="0"/>
        <c:axPos val="l"/>
        <c:majorGridlines>
          <c:spPr>
            <a:ln w="12700" cap="flat">
              <a:solidFill>
                <a:srgbClr val="DDE7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65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F2B1A"/>
                </a:solidFill>
                <a:latin typeface="Calibri"/>
              </a:defRPr>
            </a:pPr>
            <a:r>
              <a:rPr lang="en-US" sz="1300" b="0" i="0" u="none" strike="noStrike">
                <a:solidFill>
                  <a:srgbClr val="1F2B1A"/>
                </a:solidFill>
                <a:latin typeface="Calibri"/>
              </a:rPr>
              <a:t>Share of Readmission Cases by Length of Stay</a:t>
            </a:r>
          </a:p>
        </c:rich>
      </c:tx>
      <c:overlay val="0"/>
    </c:title>
    <c:autoTitleDeleted val="0"/>
    <c:plotArea>
      <c:layout/>
      <c:doughnutChart>
        <c:varyColors val="1"/>
        <c:ser>
          <c:idx val="0"/>
          <c:order val="0"/>
          <c:tx>
            <c:strRef>
              <c:f>Sheet1!$B$1</c:f>
              <c:strCache>
                <c:ptCount val="1"/>
                <c:pt idx="0">
                  <c:v>Readmissions</c:v>
                </c:pt>
              </c:strCache>
            </c:strRef>
          </c:tx>
          <c:spPr>
            <a:solidFill>
              <a:schemeClr val="accent1"/>
            </a:solidFill>
            <a:ln w="9525" cap="flat">
              <a:solidFill>
                <a:srgbClr val="F9F9F9"/>
              </a:solidFill>
              <a:prstDash val="solid"/>
              <a:round/>
            </a:ln>
            <a:effectLst/>
          </c:spPr>
          <c:dPt>
            <c:idx val="0"/>
            <c:bubble3D val="0"/>
            <c:spPr>
              <a:solidFill>
                <a:srgbClr val="2C5F2D"/>
              </a:solidFill>
              <a:effectLst/>
            </c:spPr>
            <c:extLst>
              <c:ext xmlns:c16="http://schemas.microsoft.com/office/drawing/2014/chart" uri="{C3380CC4-5D6E-409C-BE32-E72D297353CC}">
                <c16:uniqueId val="{00000001-F4FC-4C73-AD7C-6C47914CE58F}"/>
              </c:ext>
            </c:extLst>
          </c:dPt>
          <c:dPt>
            <c:idx val="1"/>
            <c:bubble3D val="0"/>
            <c:spPr>
              <a:solidFill>
                <a:srgbClr val="C7DDBC"/>
              </a:solidFill>
              <a:effectLst/>
            </c:spPr>
            <c:extLst>
              <c:ext xmlns:c16="http://schemas.microsoft.com/office/drawing/2014/chart" uri="{C3380CC4-5D6E-409C-BE32-E72D297353CC}">
                <c16:uniqueId val="{00000003-F4FC-4C73-AD7C-6C47914CE58F}"/>
              </c:ext>
            </c:extLst>
          </c:dPt>
          <c:dLbls>
            <c:dLbl>
              <c:idx val="0"/>
              <c:numFmt formatCode="0.00&quot;%&quot;" sourceLinked="0"/>
              <c:spPr/>
              <c:txPr>
                <a:bodyPr/>
                <a:lstStyle/>
                <a:p>
                  <a:pPr>
                    <a:defRPr sz="13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4FC-4C73-AD7C-6C47914CE58F}"/>
                </c:ext>
              </c:extLst>
            </c:dLbl>
            <c:dLbl>
              <c:idx val="1"/>
              <c:numFmt formatCode="0.00&quot;%&quot;" sourceLinked="0"/>
              <c:spPr/>
              <c:txPr>
                <a:bodyPr/>
                <a:lstStyle/>
                <a:p>
                  <a:pPr>
                    <a:defRPr sz="13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4FC-4C73-AD7C-6C47914CE58F}"/>
                </c:ext>
              </c:extLst>
            </c:dLbl>
            <c:numFmt formatCode="0.0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Shorter Stay (1–6 days)</c:v>
                </c:pt>
                <c:pt idx="1">
                  <c:v>Longer Stay (7–14 days)</c:v>
                </c:pt>
              </c:strCache>
            </c:strRef>
          </c:cat>
          <c:val>
            <c:numRef>
              <c:f>Sheet1!$B$2:$B$3</c:f>
              <c:numCache>
                <c:formatCode>General</c:formatCode>
                <c:ptCount val="2"/>
                <c:pt idx="0">
                  <c:v>53.33</c:v>
                </c:pt>
                <c:pt idx="1">
                  <c:v>46.67</c:v>
                </c:pt>
              </c:numCache>
            </c:numRef>
          </c:val>
          <c:extLst>
            <c:ext xmlns:c16="http://schemas.microsoft.com/office/drawing/2014/chart" uri="{C3380CC4-5D6E-409C-BE32-E72D297353CC}">
              <c16:uniqueId val="{00000004-F4FC-4C73-AD7C-6C47914CE58F}"/>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1F2B1A"/>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F2B1A"/>
                </a:solidFill>
                <a:latin typeface="Calibri"/>
              </a:defRPr>
            </a:pPr>
            <a:r>
              <a:rPr lang="en-US" sz="1250" b="0" i="0" u="none" strike="noStrike">
                <a:solidFill>
                  <a:srgbClr val="1F2B1A"/>
                </a:solidFill>
                <a:latin typeface="Calibri"/>
              </a:rPr>
              <a:t>Treatment Cost by Department — Poor Outcome Only (₦M)</a:t>
            </a:r>
          </a:p>
        </c:rich>
      </c:tx>
      <c:overlay val="0"/>
    </c:title>
    <c:autoTitleDeleted val="0"/>
    <c:plotArea>
      <c:layout/>
      <c:barChart>
        <c:barDir val="col"/>
        <c:grouping val="clustered"/>
        <c:varyColors val="0"/>
        <c:ser>
          <c:idx val="0"/>
          <c:order val="0"/>
          <c:tx>
            <c:strRef>
              <c:f>Sheet1!$B$1</c:f>
              <c:strCache>
                <c:ptCount val="1"/>
                <c:pt idx="0">
                  <c:v>Cost among Poor-Outcome patients</c:v>
                </c:pt>
              </c:strCache>
            </c:strRef>
          </c:tx>
          <c:spPr>
            <a:solidFill>
              <a:srgbClr val="A34A1D"/>
            </a:solidFill>
            <a:effectLst/>
          </c:spPr>
          <c:invertIfNegative val="0"/>
          <c:dLbls>
            <c:numFmt formatCode="&quot;₦&quot;0&quot;M&quot;" sourceLinked="0"/>
            <c:spPr>
              <a:noFill/>
              <a:ln>
                <a:noFill/>
              </a:ln>
              <a:effectLst/>
            </c:spPr>
            <c:txPr>
              <a:bodyPr/>
              <a:lstStyle/>
              <a:p>
                <a:pPr>
                  <a:defRPr sz="1200" b="0" i="0" u="none" strike="noStrike">
                    <a:solidFill>
                      <a:srgbClr val="1F2B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Surgery</c:v>
                </c:pt>
                <c:pt idx="1">
                  <c:v>Oncology</c:v>
                </c:pt>
                <c:pt idx="2">
                  <c:v>Orthopedics</c:v>
                </c:pt>
              </c:strCache>
            </c:strRef>
          </c:cat>
          <c:val>
            <c:numRef>
              <c:f>Sheet1!$B$2:$B$4</c:f>
              <c:numCache>
                <c:formatCode>General</c:formatCode>
                <c:ptCount val="3"/>
                <c:pt idx="0">
                  <c:v>6</c:v>
                </c:pt>
                <c:pt idx="1">
                  <c:v>4</c:v>
                </c:pt>
                <c:pt idx="2">
                  <c:v>4</c:v>
                </c:pt>
              </c:numCache>
            </c:numRef>
          </c:val>
          <c:extLst>
            <c:ext xmlns:c16="http://schemas.microsoft.com/office/drawing/2014/chart" uri="{C3380CC4-5D6E-409C-BE32-E72D297353CC}">
              <c16:uniqueId val="{00000000-9588-41BC-BC44-72CF115EEB1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655A"/>
                </a:solidFill>
                <a:latin typeface="Arial"/>
              </a:defRPr>
            </a:pPr>
            <a:endParaRPr lang="en-US"/>
          </a:p>
        </c:txPr>
        <c:crossAx val="2094734552"/>
        <c:crosses val="autoZero"/>
        <c:auto val="1"/>
        <c:lblAlgn val="ctr"/>
        <c:lblOffset val="100"/>
        <c:noMultiLvlLbl val="1"/>
      </c:catAx>
      <c:valAx>
        <c:axId val="2094734552"/>
        <c:scaling>
          <c:orientation val="minMax"/>
          <c:max val="7"/>
        </c:scaling>
        <c:delete val="0"/>
        <c:axPos val="l"/>
        <c:majorGridlines>
          <c:spPr>
            <a:ln w="12700" cap="flat">
              <a:solidFill>
                <a:srgbClr val="DDE7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65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2750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B1E"/>
        </a:solidFill>
        <a:effectLst/>
      </p:bgPr>
    </p:bg>
    <p:spTree>
      <p:nvGrpSpPr>
        <p:cNvPr id="1" name=""/>
        <p:cNvGrpSpPr/>
        <p:nvPr/>
      </p:nvGrpSpPr>
      <p:grpSpPr>
        <a:xfrm>
          <a:off x="0" y="0"/>
          <a:ext cx="0" cy="0"/>
          <a:chOff x="0" y="0"/>
          <a:chExt cx="0" cy="0"/>
        </a:xfrm>
      </p:grpSpPr>
      <p:sp>
        <p:nvSpPr>
          <p:cNvPr id="2" name="Shape 0"/>
          <p:cNvSpPr/>
          <p:nvPr/>
        </p:nvSpPr>
        <p:spPr>
          <a:xfrm>
            <a:off x="9692640" y="-1689283"/>
            <a:ext cx="4206240" cy="4206240"/>
          </a:xfrm>
          <a:prstGeom prst="ellipse">
            <a:avLst/>
          </a:prstGeom>
          <a:solidFill>
            <a:srgbClr val="2C5F2D">
              <a:alpha val="60000"/>
            </a:srgbClr>
          </a:solidFill>
          <a:ln/>
        </p:spPr>
        <p:txBody>
          <a:bodyPr/>
          <a:lstStyle/>
          <a:p>
            <a:endParaRPr lang="en-US"/>
          </a:p>
        </p:txBody>
      </p:sp>
      <p:sp>
        <p:nvSpPr>
          <p:cNvPr id="3" name="Shape 1"/>
          <p:cNvSpPr/>
          <p:nvPr/>
        </p:nvSpPr>
        <p:spPr>
          <a:xfrm>
            <a:off x="-1645920" y="4528637"/>
            <a:ext cx="3840480" cy="3840480"/>
          </a:xfrm>
          <a:prstGeom prst="ellipse">
            <a:avLst/>
          </a:prstGeom>
          <a:solidFill>
            <a:srgbClr val="6FA766">
              <a:alpha val="45000"/>
            </a:srgbClr>
          </a:solidFill>
          <a:ln/>
        </p:spPr>
        <p:txBody>
          <a:bodyPr/>
          <a:lstStyle/>
          <a:p>
            <a:endParaRPr lang="en-US"/>
          </a:p>
        </p:txBody>
      </p:sp>
      <p:sp>
        <p:nvSpPr>
          <p:cNvPr id="4" name="Text 2"/>
          <p:cNvSpPr/>
          <p:nvPr/>
        </p:nvSpPr>
        <p:spPr>
          <a:xfrm>
            <a:off x="822960" y="2105477"/>
            <a:ext cx="10515600" cy="914400"/>
          </a:xfrm>
          <a:prstGeom prst="rect">
            <a:avLst/>
          </a:prstGeom>
          <a:noFill/>
          <a:ln/>
        </p:spPr>
        <p:txBody>
          <a:bodyPr wrap="square"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HOSPITAL DASHBOARD</a:t>
            </a:r>
            <a:endParaRPr lang="en-US" sz="4400" dirty="0"/>
          </a:p>
        </p:txBody>
      </p:sp>
      <p:sp>
        <p:nvSpPr>
          <p:cNvPr id="5" name="Text 3"/>
          <p:cNvSpPr/>
          <p:nvPr/>
        </p:nvSpPr>
        <p:spPr>
          <a:xfrm>
            <a:off x="868680" y="3019877"/>
            <a:ext cx="9601200" cy="548640"/>
          </a:xfrm>
          <a:prstGeom prst="rect">
            <a:avLst/>
          </a:prstGeom>
          <a:noFill/>
          <a:ln/>
        </p:spPr>
        <p:txBody>
          <a:bodyPr wrap="square" rtlCol="0" anchor="ctr"/>
          <a:lstStyle/>
          <a:p>
            <a:pPr marL="0" indent="0" algn="l">
              <a:buNone/>
            </a:pPr>
            <a:r>
              <a:rPr lang="en-US" sz="1800" i="1" dirty="0">
                <a:solidFill>
                  <a:srgbClr val="6FA766"/>
                </a:solidFill>
                <a:latin typeface="Calibri" pitchFamily="34" charset="0"/>
                <a:ea typeface="Calibri" pitchFamily="34" charset="-122"/>
                <a:cs typeface="Calibri" pitchFamily="34" charset="-120"/>
              </a:rPr>
              <a:t>Key Findings, Areas for Improvement &amp; Recommendations</a:t>
            </a:r>
            <a:endParaRPr lang="en-US" sz="1800" dirty="0"/>
          </a:p>
        </p:txBody>
      </p:sp>
      <p:sp>
        <p:nvSpPr>
          <p:cNvPr id="6" name="Text 4"/>
          <p:cNvSpPr/>
          <p:nvPr/>
        </p:nvSpPr>
        <p:spPr>
          <a:xfrm>
            <a:off x="868680" y="3934277"/>
            <a:ext cx="9601200" cy="457200"/>
          </a:xfrm>
          <a:prstGeom prst="rect">
            <a:avLst/>
          </a:prstGeom>
          <a:noFill/>
          <a:ln/>
        </p:spPr>
        <p:txBody>
          <a:bodyPr wrap="square" rtlCol="0" anchor="ctr"/>
          <a:lstStyle/>
          <a:p>
            <a:pPr marL="0" indent="0" algn="l">
              <a:buNone/>
            </a:pPr>
            <a:r>
              <a:rPr lang="en-US" sz="1300" dirty="0">
                <a:solidFill>
                  <a:srgbClr val="FFFFFF"/>
                </a:solidFill>
                <a:latin typeface="Calibri" pitchFamily="34" charset="0"/>
                <a:ea typeface="Calibri" pitchFamily="34" charset="-122"/>
                <a:cs typeface="Calibri" pitchFamily="34" charset="-120"/>
              </a:rPr>
              <a:t>1,000-Patient Analysis  •  Length of Stay  •  Treatment Cost  •  Readmissions</a:t>
            </a:r>
            <a:endParaRPr lang="en-US" sz="1300" dirty="0"/>
          </a:p>
        </p:txBody>
      </p:sp>
      <p:sp>
        <p:nvSpPr>
          <p:cNvPr id="7" name="Text 5"/>
          <p:cNvSpPr/>
          <p:nvPr/>
        </p:nvSpPr>
        <p:spPr>
          <a:xfrm>
            <a:off x="868680" y="5945957"/>
            <a:ext cx="4572000" cy="365760"/>
          </a:xfrm>
          <a:prstGeom prst="rect">
            <a:avLst/>
          </a:prstGeom>
          <a:noFill/>
          <a:ln/>
        </p:spPr>
        <p:txBody>
          <a:bodyPr wrap="square" rtlCol="0" anchor="ctr"/>
          <a:lstStyle/>
          <a:p>
            <a:pPr marL="0" indent="0" algn="l">
              <a:buNone/>
            </a:pPr>
            <a:r>
              <a:rPr lang="en-US" sz="1200" dirty="0">
                <a:solidFill>
                  <a:srgbClr val="6FA766"/>
                </a:solidFill>
                <a:latin typeface="Calibri" pitchFamily="34" charset="0"/>
                <a:ea typeface="Calibri" pitchFamily="34" charset="-122"/>
                <a:cs typeface="Calibri" pitchFamily="34" charset="-120"/>
              </a:rPr>
              <a:t>Internship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7315200" cy="10515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Introduction</a:t>
            </a:r>
            <a:endParaRPr lang="en-US" sz="3200" dirty="0"/>
          </a:p>
        </p:txBody>
      </p:sp>
      <p:sp>
        <p:nvSpPr>
          <p:cNvPr id="4" name="Text 2"/>
          <p:cNvSpPr/>
          <p:nvPr/>
        </p:nvSpPr>
        <p:spPr>
          <a:xfrm>
            <a:off x="548640" y="1371600"/>
            <a:ext cx="11064240" cy="1188720"/>
          </a:xfrm>
          <a:prstGeom prst="rect">
            <a:avLst/>
          </a:prstGeom>
          <a:noFill/>
          <a:ln/>
        </p:spPr>
        <p:txBody>
          <a:bodyPr wrap="square" rtlCol="0" anchor="t"/>
          <a:lstStyle/>
          <a:p>
            <a:pPr marL="0" indent="0" algn="l">
              <a:lnSpc>
                <a:spcPct val="120000"/>
              </a:lnSpc>
              <a:buNone/>
            </a:pPr>
            <a:r>
              <a:rPr lang="en-US" sz="1400" dirty="0">
                <a:solidFill>
                  <a:srgbClr val="1F2B1A"/>
                </a:solidFill>
                <a:latin typeface="Calibri" pitchFamily="34" charset="0"/>
                <a:ea typeface="Calibri" pitchFamily="34" charset="-122"/>
                <a:cs typeface="Calibri" pitchFamily="34" charset="-120"/>
              </a:rPr>
              <a:t>The hospital dashboard provides an overview of 1,000 patients — covering departmental distribution, diagnoses, length of stay, treatment cost, and readmission patterns. Overall, the data shows a hospital managing substantial patient volume, with clear opportunities to improve outcomes, reduce avoidable readmissions, and strengthen departmental performance.</a:t>
            </a:r>
            <a:endParaRPr lang="en-US" sz="1400" dirty="0"/>
          </a:p>
        </p:txBody>
      </p:sp>
      <p:sp>
        <p:nvSpPr>
          <p:cNvPr id="5" name="Shape 3"/>
          <p:cNvSpPr/>
          <p:nvPr/>
        </p:nvSpPr>
        <p:spPr>
          <a:xfrm>
            <a:off x="548640" y="2834640"/>
            <a:ext cx="2606040" cy="2286000"/>
          </a:xfrm>
          <a:prstGeom prst="roundRect">
            <a:avLst>
              <a:gd name="adj" fmla="val 4800"/>
            </a:avLst>
          </a:prstGeom>
          <a:solidFill>
            <a:srgbClr val="E9F2E4"/>
          </a:solidFill>
          <a:ln/>
          <a:effectLst>
            <a:outerShdw blurRad="76200" dist="25400" dir="5400000" algn="bl" rotWithShape="0">
              <a:srgbClr val="3A3A3A">
                <a:alpha val="18000"/>
              </a:srgbClr>
            </a:outerShdw>
          </a:effectLst>
        </p:spPr>
        <p:txBody>
          <a:bodyPr/>
          <a:lstStyle/>
          <a:p>
            <a:endParaRPr lang="en-US"/>
          </a:p>
        </p:txBody>
      </p:sp>
      <p:sp>
        <p:nvSpPr>
          <p:cNvPr id="6" name="Text 4"/>
          <p:cNvSpPr/>
          <p:nvPr/>
        </p:nvSpPr>
        <p:spPr>
          <a:xfrm>
            <a:off x="548640" y="3154680"/>
            <a:ext cx="2606040" cy="914400"/>
          </a:xfrm>
          <a:prstGeom prst="rect">
            <a:avLst/>
          </a:prstGeom>
          <a:noFill/>
          <a:ln/>
        </p:spPr>
        <p:txBody>
          <a:bodyPr wrap="square" rtlCol="0" anchor="ctr"/>
          <a:lstStyle/>
          <a:p>
            <a:pPr marL="0" indent="0" algn="ctr">
              <a:buNone/>
            </a:pPr>
            <a:r>
              <a:rPr lang="en-US" sz="3000" b="1" dirty="0">
                <a:solidFill>
                  <a:srgbClr val="2C5F2D"/>
                </a:solidFill>
                <a:latin typeface="Calibri" pitchFamily="34" charset="0"/>
                <a:ea typeface="Calibri" pitchFamily="34" charset="-122"/>
                <a:cs typeface="Calibri" pitchFamily="34" charset="-120"/>
              </a:rPr>
              <a:t>1,000</a:t>
            </a:r>
            <a:endParaRPr lang="en-US" sz="3000" dirty="0"/>
          </a:p>
        </p:txBody>
      </p:sp>
      <p:sp>
        <p:nvSpPr>
          <p:cNvPr id="7" name="Text 5"/>
          <p:cNvSpPr/>
          <p:nvPr/>
        </p:nvSpPr>
        <p:spPr>
          <a:xfrm>
            <a:off x="685800" y="4251960"/>
            <a:ext cx="2331720" cy="731520"/>
          </a:xfrm>
          <a:prstGeom prst="rect">
            <a:avLst/>
          </a:prstGeom>
          <a:noFill/>
          <a:ln/>
        </p:spPr>
        <p:txBody>
          <a:bodyPr wrap="square" rtlCol="0" anchor="t"/>
          <a:lstStyle/>
          <a:p>
            <a:pPr marL="0" indent="0" algn="ctr">
              <a:buNone/>
            </a:pPr>
            <a:r>
              <a:rPr lang="en-US" sz="1200" dirty="0">
                <a:solidFill>
                  <a:srgbClr val="55655A"/>
                </a:solidFill>
                <a:latin typeface="Calibri" pitchFamily="34" charset="0"/>
                <a:ea typeface="Calibri" pitchFamily="34" charset="-122"/>
                <a:cs typeface="Calibri" pitchFamily="34" charset="-120"/>
              </a:rPr>
              <a:t>Total Patients</a:t>
            </a:r>
            <a:endParaRPr lang="en-US" sz="1200" dirty="0"/>
          </a:p>
        </p:txBody>
      </p:sp>
      <p:sp>
        <p:nvSpPr>
          <p:cNvPr id="8" name="Shape 6"/>
          <p:cNvSpPr/>
          <p:nvPr/>
        </p:nvSpPr>
        <p:spPr>
          <a:xfrm>
            <a:off x="3429000" y="2834640"/>
            <a:ext cx="2606040" cy="2286000"/>
          </a:xfrm>
          <a:prstGeom prst="roundRect">
            <a:avLst>
              <a:gd name="adj" fmla="val 4800"/>
            </a:avLst>
          </a:prstGeom>
          <a:solidFill>
            <a:srgbClr val="E9F2E4"/>
          </a:solidFill>
          <a:ln/>
          <a:effectLst>
            <a:outerShdw blurRad="76200" dist="25400" dir="5400000" algn="bl" rotWithShape="0">
              <a:srgbClr val="3A3A3A">
                <a:alpha val="18000"/>
              </a:srgbClr>
            </a:outerShdw>
          </a:effectLst>
        </p:spPr>
        <p:txBody>
          <a:bodyPr/>
          <a:lstStyle/>
          <a:p>
            <a:endParaRPr lang="en-US"/>
          </a:p>
        </p:txBody>
      </p:sp>
      <p:sp>
        <p:nvSpPr>
          <p:cNvPr id="9" name="Text 7"/>
          <p:cNvSpPr/>
          <p:nvPr/>
        </p:nvSpPr>
        <p:spPr>
          <a:xfrm>
            <a:off x="3429000" y="3154680"/>
            <a:ext cx="2606040" cy="914400"/>
          </a:xfrm>
          <a:prstGeom prst="rect">
            <a:avLst/>
          </a:prstGeom>
          <a:noFill/>
          <a:ln/>
        </p:spPr>
        <p:txBody>
          <a:bodyPr wrap="square" rtlCol="0" anchor="ctr"/>
          <a:lstStyle/>
          <a:p>
            <a:pPr marL="0" indent="0" algn="ctr">
              <a:buNone/>
            </a:pPr>
            <a:r>
              <a:rPr lang="en-US" sz="3000" b="1" dirty="0">
                <a:solidFill>
                  <a:srgbClr val="2C5F2D"/>
                </a:solidFill>
                <a:latin typeface="Calibri" pitchFamily="34" charset="0"/>
                <a:ea typeface="Calibri" pitchFamily="34" charset="-122"/>
                <a:cs typeface="Calibri" pitchFamily="34" charset="-120"/>
              </a:rPr>
              <a:t>7.46</a:t>
            </a:r>
            <a:endParaRPr lang="en-US" sz="3000" dirty="0"/>
          </a:p>
        </p:txBody>
      </p:sp>
      <p:sp>
        <p:nvSpPr>
          <p:cNvPr id="10" name="Text 8"/>
          <p:cNvSpPr/>
          <p:nvPr/>
        </p:nvSpPr>
        <p:spPr>
          <a:xfrm>
            <a:off x="3566160" y="4251960"/>
            <a:ext cx="2331720" cy="731520"/>
          </a:xfrm>
          <a:prstGeom prst="rect">
            <a:avLst/>
          </a:prstGeom>
          <a:noFill/>
          <a:ln/>
        </p:spPr>
        <p:txBody>
          <a:bodyPr wrap="square" rtlCol="0" anchor="t"/>
          <a:lstStyle/>
          <a:p>
            <a:pPr marL="0" indent="0" algn="ctr">
              <a:buNone/>
            </a:pPr>
            <a:r>
              <a:rPr lang="en-US" sz="1200" dirty="0">
                <a:solidFill>
                  <a:srgbClr val="55655A"/>
                </a:solidFill>
                <a:latin typeface="Calibri" pitchFamily="34" charset="0"/>
                <a:ea typeface="Calibri" pitchFamily="34" charset="-122"/>
                <a:cs typeface="Calibri" pitchFamily="34" charset="-120"/>
              </a:rPr>
              <a:t>Avg. Length of Stay (days)</a:t>
            </a:r>
            <a:endParaRPr lang="en-US" sz="1200" dirty="0"/>
          </a:p>
        </p:txBody>
      </p:sp>
      <p:sp>
        <p:nvSpPr>
          <p:cNvPr id="11" name="Shape 9"/>
          <p:cNvSpPr/>
          <p:nvPr/>
        </p:nvSpPr>
        <p:spPr>
          <a:xfrm>
            <a:off x="6309360" y="2834640"/>
            <a:ext cx="2606040" cy="2286000"/>
          </a:xfrm>
          <a:prstGeom prst="roundRect">
            <a:avLst>
              <a:gd name="adj" fmla="val 4800"/>
            </a:avLst>
          </a:prstGeom>
          <a:solidFill>
            <a:srgbClr val="E9F2E4"/>
          </a:solidFill>
          <a:ln/>
          <a:effectLst>
            <a:outerShdw blurRad="76200" dist="25400" dir="5400000" algn="bl" rotWithShape="0">
              <a:srgbClr val="3A3A3A">
                <a:alpha val="18000"/>
              </a:srgbClr>
            </a:outerShdw>
          </a:effectLst>
        </p:spPr>
        <p:txBody>
          <a:bodyPr/>
          <a:lstStyle/>
          <a:p>
            <a:endParaRPr lang="en-US"/>
          </a:p>
        </p:txBody>
      </p:sp>
      <p:sp>
        <p:nvSpPr>
          <p:cNvPr id="12" name="Text 10"/>
          <p:cNvSpPr/>
          <p:nvPr/>
        </p:nvSpPr>
        <p:spPr>
          <a:xfrm>
            <a:off x="6309360" y="3154680"/>
            <a:ext cx="2606040" cy="914400"/>
          </a:xfrm>
          <a:prstGeom prst="rect">
            <a:avLst/>
          </a:prstGeom>
          <a:noFill/>
          <a:ln/>
        </p:spPr>
        <p:txBody>
          <a:bodyPr wrap="square" rtlCol="0" anchor="ctr"/>
          <a:lstStyle/>
          <a:p>
            <a:pPr marL="0" indent="0" algn="ctr">
              <a:buNone/>
            </a:pPr>
            <a:r>
              <a:rPr lang="en-US" sz="3000" b="1" dirty="0">
                <a:solidFill>
                  <a:srgbClr val="2C5F2D"/>
                </a:solidFill>
                <a:latin typeface="Calibri" pitchFamily="34" charset="0"/>
                <a:ea typeface="Calibri" pitchFamily="34" charset="-122"/>
                <a:cs typeface="Calibri" pitchFamily="34" charset="-120"/>
              </a:rPr>
              <a:t>₦330.28K</a:t>
            </a:r>
            <a:endParaRPr lang="en-US" sz="3000" dirty="0"/>
          </a:p>
        </p:txBody>
      </p:sp>
      <p:sp>
        <p:nvSpPr>
          <p:cNvPr id="13" name="Text 11"/>
          <p:cNvSpPr/>
          <p:nvPr/>
        </p:nvSpPr>
        <p:spPr>
          <a:xfrm>
            <a:off x="6446520" y="4251960"/>
            <a:ext cx="2331720" cy="731520"/>
          </a:xfrm>
          <a:prstGeom prst="rect">
            <a:avLst/>
          </a:prstGeom>
          <a:noFill/>
          <a:ln/>
        </p:spPr>
        <p:txBody>
          <a:bodyPr wrap="square" rtlCol="0" anchor="t"/>
          <a:lstStyle/>
          <a:p>
            <a:pPr marL="0" indent="0" algn="ctr">
              <a:buNone/>
            </a:pPr>
            <a:r>
              <a:rPr lang="en-US" sz="1200" dirty="0">
                <a:solidFill>
                  <a:srgbClr val="55655A"/>
                </a:solidFill>
                <a:latin typeface="Calibri" pitchFamily="34" charset="0"/>
                <a:ea typeface="Calibri" pitchFamily="34" charset="-122"/>
                <a:cs typeface="Calibri" pitchFamily="34" charset="-120"/>
              </a:rPr>
              <a:t>Avg. Treatment Cost</a:t>
            </a:r>
            <a:endParaRPr lang="en-US" sz="1200" dirty="0"/>
          </a:p>
        </p:txBody>
      </p:sp>
      <p:sp>
        <p:nvSpPr>
          <p:cNvPr id="14" name="Shape 12"/>
          <p:cNvSpPr/>
          <p:nvPr/>
        </p:nvSpPr>
        <p:spPr>
          <a:xfrm>
            <a:off x="9189720" y="2834640"/>
            <a:ext cx="2606040" cy="2286000"/>
          </a:xfrm>
          <a:prstGeom prst="roundRect">
            <a:avLst>
              <a:gd name="adj" fmla="val 4800"/>
            </a:avLst>
          </a:prstGeom>
          <a:solidFill>
            <a:srgbClr val="E9F2E4"/>
          </a:solidFill>
          <a:ln/>
          <a:effectLst>
            <a:outerShdw blurRad="76200" dist="25400" dir="5400000" algn="bl" rotWithShape="0">
              <a:srgbClr val="3A3A3A">
                <a:alpha val="18000"/>
              </a:srgbClr>
            </a:outerShdw>
          </a:effectLst>
        </p:spPr>
        <p:txBody>
          <a:bodyPr/>
          <a:lstStyle/>
          <a:p>
            <a:endParaRPr lang="en-US"/>
          </a:p>
        </p:txBody>
      </p:sp>
      <p:sp>
        <p:nvSpPr>
          <p:cNvPr id="15" name="Text 13"/>
          <p:cNvSpPr/>
          <p:nvPr/>
        </p:nvSpPr>
        <p:spPr>
          <a:xfrm>
            <a:off x="9189720" y="3154680"/>
            <a:ext cx="2606040" cy="914400"/>
          </a:xfrm>
          <a:prstGeom prst="rect">
            <a:avLst/>
          </a:prstGeom>
          <a:noFill/>
          <a:ln/>
        </p:spPr>
        <p:txBody>
          <a:bodyPr wrap="square" rtlCol="0" anchor="ctr"/>
          <a:lstStyle/>
          <a:p>
            <a:pPr marL="0" indent="0" algn="ctr">
              <a:buNone/>
            </a:pPr>
            <a:r>
              <a:rPr lang="en-US" sz="3000" b="1" dirty="0">
                <a:solidFill>
                  <a:srgbClr val="2C5F2D"/>
                </a:solidFill>
                <a:latin typeface="Calibri" pitchFamily="34" charset="0"/>
                <a:ea typeface="Calibri" pitchFamily="34" charset="-122"/>
                <a:cs typeface="Calibri" pitchFamily="34" charset="-120"/>
              </a:rPr>
              <a:t>21%</a:t>
            </a:r>
            <a:endParaRPr lang="en-US" sz="3000" dirty="0"/>
          </a:p>
        </p:txBody>
      </p:sp>
      <p:sp>
        <p:nvSpPr>
          <p:cNvPr id="16" name="Text 14"/>
          <p:cNvSpPr/>
          <p:nvPr/>
        </p:nvSpPr>
        <p:spPr>
          <a:xfrm>
            <a:off x="9326880" y="4251960"/>
            <a:ext cx="2331720" cy="731520"/>
          </a:xfrm>
          <a:prstGeom prst="rect">
            <a:avLst/>
          </a:prstGeom>
          <a:noFill/>
          <a:ln/>
        </p:spPr>
        <p:txBody>
          <a:bodyPr wrap="square" rtlCol="0" anchor="t"/>
          <a:lstStyle/>
          <a:p>
            <a:pPr marL="0" indent="0" algn="ctr">
              <a:buNone/>
            </a:pPr>
            <a:r>
              <a:rPr lang="en-US" sz="1200" dirty="0">
                <a:solidFill>
                  <a:srgbClr val="55655A"/>
                </a:solidFill>
                <a:latin typeface="Calibri" pitchFamily="34" charset="0"/>
                <a:ea typeface="Calibri" pitchFamily="34" charset="-122"/>
                <a:cs typeface="Calibri" pitchFamily="34" charset="-120"/>
              </a:rPr>
              <a:t>Overall Readmission Rate</a:t>
            </a:r>
            <a:endParaRPr lang="en-US" sz="1200" dirty="0"/>
          </a:p>
        </p:txBody>
      </p:sp>
      <p:sp>
        <p:nvSpPr>
          <p:cNvPr id="17" name="Text 15"/>
          <p:cNvSpPr/>
          <p:nvPr/>
        </p:nvSpPr>
        <p:spPr>
          <a:xfrm>
            <a:off x="548640" y="5440680"/>
            <a:ext cx="11064240" cy="548640"/>
          </a:xfrm>
          <a:prstGeom prst="rect">
            <a:avLst/>
          </a:prstGeom>
          <a:noFill/>
          <a:ln/>
        </p:spPr>
        <p:txBody>
          <a:bodyPr wrap="square" rtlCol="0" anchor="ctr"/>
          <a:lstStyle/>
          <a:p>
            <a:pPr marL="0" indent="0" algn="l">
              <a:buNone/>
            </a:pPr>
            <a:r>
              <a:rPr lang="en-US" sz="1200" i="1" dirty="0">
                <a:solidFill>
                  <a:srgbClr val="55655A"/>
                </a:solidFill>
                <a:latin typeface="Calibri" pitchFamily="34" charset="0"/>
                <a:ea typeface="Calibri" pitchFamily="34" charset="-122"/>
                <a:cs typeface="Calibri" pitchFamily="34" charset="-120"/>
              </a:rPr>
              <a:t>These indicators suggest opportunities to reduce avoidable readmissions and optimize resource utilization across departments.</a:t>
            </a:r>
            <a:endParaRPr lang="en-US" sz="1200" dirty="0"/>
          </a:p>
        </p:txBody>
      </p:sp>
      <p:sp>
        <p:nvSpPr>
          <p:cNvPr id="18" name="Text 1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6035040" y="0"/>
            <a:ext cx="566928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1  —  Patient Volume by Department</a:t>
            </a:r>
            <a:endParaRPr lang="en-US" sz="1400" dirty="0"/>
          </a:p>
        </p:txBody>
      </p:sp>
      <p:graphicFrame>
        <p:nvGraphicFramePr>
          <p:cNvPr id="5" name="Chart 0"/>
          <p:cNvGraphicFramePr/>
          <p:nvPr/>
        </p:nvGraphicFramePr>
        <p:xfrm>
          <a:off x="548640" y="137160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400784"/>
            <a:ext cx="3886200" cy="4846320"/>
          </a:xfrm>
          <a:prstGeom prst="roundRect">
            <a:avLst>
              <a:gd name="adj" fmla="val 2353"/>
            </a:avLst>
          </a:prstGeom>
          <a:solidFill>
            <a:srgbClr val="E9F2E4"/>
          </a:solidFill>
          <a:ln/>
        </p:spPr>
        <p:txBody>
          <a:bodyPr/>
          <a:lstStyle/>
          <a:p>
            <a:endParaRPr lang="en-US"/>
          </a:p>
        </p:txBody>
      </p:sp>
      <p:sp>
        <p:nvSpPr>
          <p:cNvPr id="7" name="Text 4"/>
          <p:cNvSpPr/>
          <p:nvPr/>
        </p:nvSpPr>
        <p:spPr>
          <a:xfrm>
            <a:off x="8046720" y="1554480"/>
            <a:ext cx="3337560" cy="365760"/>
          </a:xfrm>
          <a:prstGeom prst="rect">
            <a:avLst/>
          </a:prstGeom>
          <a:noFill/>
          <a:ln/>
        </p:spPr>
        <p:txBody>
          <a:bodyPr wrap="square"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What the data shows</a:t>
            </a:r>
            <a:endParaRPr lang="en-US" sz="1500" dirty="0"/>
          </a:p>
        </p:txBody>
      </p:sp>
      <p:sp>
        <p:nvSpPr>
          <p:cNvPr id="8" name="Text 5"/>
          <p:cNvSpPr/>
          <p:nvPr/>
        </p:nvSpPr>
        <p:spPr>
          <a:xfrm>
            <a:off x="8046720" y="2011680"/>
            <a:ext cx="3337560" cy="4023360"/>
          </a:xfrm>
          <a:prstGeom prst="rect">
            <a:avLst/>
          </a:prstGeom>
          <a:noFill/>
          <a:ln/>
        </p:spPr>
        <p:txBody>
          <a:bodyPr wrap="square" rtlCol="0" anchor="t"/>
          <a:lstStyle/>
          <a:p>
            <a:pPr marL="342900" indent="-342900">
              <a:lnSpc>
                <a:spcPct val="115000"/>
              </a:lnSpc>
              <a:spcAft>
                <a:spcPts val="1200"/>
              </a:spcAft>
              <a:buSzPct val="100000"/>
              <a:buChar char="•"/>
            </a:pPr>
            <a:r>
              <a:rPr lang="en-US" sz="1250" dirty="0">
                <a:solidFill>
                  <a:srgbClr val="1F2B1A"/>
                </a:solidFill>
              </a:rPr>
              <a:t>Emergency leads with 192 patients</a:t>
            </a:r>
            <a:endParaRPr lang="en-US" sz="1250" dirty="0"/>
          </a:p>
          <a:p>
            <a:pPr marL="342900" indent="-342900">
              <a:lnSpc>
                <a:spcPct val="115000"/>
              </a:lnSpc>
              <a:spcAft>
                <a:spcPts val="1200"/>
              </a:spcAft>
              <a:buSzPct val="100000"/>
              <a:buChar char="•"/>
            </a:pPr>
            <a:r>
              <a:rPr lang="en-US" sz="1250" dirty="0">
                <a:solidFill>
                  <a:srgbClr val="1F2B1A"/>
                </a:solidFill>
              </a:rPr>
              <a:t>Followed by Surgery (153) and Cardiology (137)</a:t>
            </a:r>
            <a:endParaRPr lang="en-US" sz="1250" dirty="0"/>
          </a:p>
          <a:p>
            <a:pPr marL="342900" indent="-342900">
              <a:lnSpc>
                <a:spcPct val="115000"/>
              </a:lnSpc>
              <a:spcAft>
                <a:spcPts val="1200"/>
              </a:spcAft>
              <a:buSzPct val="100000"/>
              <a:buChar char="•"/>
            </a:pPr>
            <a:r>
              <a:rPr lang="en-US" sz="1250" dirty="0">
                <a:solidFill>
                  <a:srgbClr val="1F2B1A"/>
                </a:solidFill>
              </a:rPr>
              <a:t>High Emergency volume signals demand pressure on staff, beds and resources</a:t>
            </a:r>
            <a:endParaRPr lang="en-US" sz="1250" dirty="0"/>
          </a:p>
          <a:p>
            <a:pPr marL="342900" indent="-342900">
              <a:lnSpc>
                <a:spcPct val="115000"/>
              </a:lnSpc>
              <a:spcAft>
                <a:spcPts val="1200"/>
              </a:spcAft>
              <a:buSzPct val="100000"/>
              <a:buChar char="•"/>
            </a:pPr>
            <a:r>
              <a:rPr lang="en-US" sz="1250" dirty="0">
                <a:solidFill>
                  <a:srgbClr val="1F2B1A"/>
                </a:solidFill>
              </a:rPr>
              <a:t>Oncology and ICU carry the lowest volume, but (as shown next) not the lowest risk</a:t>
            </a:r>
            <a:endParaRPr lang="en-US" sz="1250" dirty="0"/>
          </a:p>
        </p:txBody>
      </p:sp>
      <p:sp>
        <p:nvSpPr>
          <p:cNvPr id="9" name="Text 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4754880" y="0"/>
            <a:ext cx="694944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2  —  Readmissions Are a Significant Concern</a:t>
            </a:r>
            <a:endParaRPr lang="en-US" sz="1400" dirty="0"/>
          </a:p>
        </p:txBody>
      </p:sp>
      <p:sp>
        <p:nvSpPr>
          <p:cNvPr id="5" name="Text 3"/>
          <p:cNvSpPr/>
          <p:nvPr/>
        </p:nvSpPr>
        <p:spPr>
          <a:xfrm>
            <a:off x="548640" y="1280160"/>
            <a:ext cx="11064240" cy="548640"/>
          </a:xfrm>
          <a:prstGeom prst="rect">
            <a:avLst/>
          </a:prstGeom>
          <a:noFill/>
          <a:ln/>
        </p:spPr>
        <p:txBody>
          <a:bodyPr wrap="square" rtlCol="0" anchor="ctr"/>
          <a:lstStyle/>
          <a:p>
            <a:pPr marL="0" indent="0">
              <a:buNone/>
            </a:pPr>
            <a:r>
              <a:rPr lang="en-US" sz="1350" i="1" dirty="0">
                <a:solidFill>
                  <a:srgbClr val="1F2B1A"/>
                </a:solidFill>
                <a:latin typeface="Calibri" pitchFamily="34" charset="0"/>
                <a:ea typeface="Calibri" pitchFamily="34" charset="-122"/>
                <a:cs typeface="Calibri" pitchFamily="34" charset="-120"/>
              </a:rPr>
              <a:t>Roughly 1 in 5 patients (21%) was readmitted overall. Readmissions concentrate in a few departments and among older patients — the two groups management should prioritize first.</a:t>
            </a:r>
            <a:endParaRPr lang="en-US" sz="1350" dirty="0"/>
          </a:p>
        </p:txBody>
      </p:sp>
      <p:sp>
        <p:nvSpPr>
          <p:cNvPr id="6" name="Text 4"/>
          <p:cNvSpPr/>
          <p:nvPr/>
        </p:nvSpPr>
        <p:spPr>
          <a:xfrm>
            <a:off x="548640" y="1965960"/>
            <a:ext cx="6035040" cy="365760"/>
          </a:xfrm>
          <a:prstGeom prst="rect">
            <a:avLst/>
          </a:prstGeom>
          <a:noFill/>
          <a:ln/>
        </p:spPr>
        <p:txBody>
          <a:bodyPr wrap="square"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Highest Readmission Rates by Department</a:t>
            </a:r>
            <a:endParaRPr lang="en-US" sz="1500" dirty="0"/>
          </a:p>
        </p:txBody>
      </p:sp>
      <p:sp>
        <p:nvSpPr>
          <p:cNvPr id="7" name="Shape 5"/>
          <p:cNvSpPr/>
          <p:nvPr/>
        </p:nvSpPr>
        <p:spPr>
          <a:xfrm>
            <a:off x="548640" y="2468880"/>
            <a:ext cx="6035040" cy="822960"/>
          </a:xfrm>
          <a:prstGeom prst="roundRect">
            <a:avLst>
              <a:gd name="adj" fmla="val 8889"/>
            </a:avLst>
          </a:prstGeom>
          <a:solidFill>
            <a:srgbClr val="E9F2E4"/>
          </a:solidFill>
          <a:ln/>
        </p:spPr>
        <p:txBody>
          <a:bodyPr/>
          <a:lstStyle/>
          <a:p>
            <a:endParaRPr lang="en-US"/>
          </a:p>
        </p:txBody>
      </p:sp>
      <p:sp>
        <p:nvSpPr>
          <p:cNvPr id="8" name="Text 6"/>
          <p:cNvSpPr/>
          <p:nvPr/>
        </p:nvSpPr>
        <p:spPr>
          <a:xfrm>
            <a:off x="822960" y="2468880"/>
            <a:ext cx="3657600" cy="82296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Cardiology</a:t>
            </a:r>
            <a:endParaRPr lang="en-US" sz="1500" dirty="0"/>
          </a:p>
        </p:txBody>
      </p:sp>
      <p:sp>
        <p:nvSpPr>
          <p:cNvPr id="9" name="Text 7"/>
          <p:cNvSpPr/>
          <p:nvPr/>
        </p:nvSpPr>
        <p:spPr>
          <a:xfrm>
            <a:off x="4572000" y="2468880"/>
            <a:ext cx="1828800" cy="822960"/>
          </a:xfrm>
          <a:prstGeom prst="rect">
            <a:avLst/>
          </a:prstGeom>
          <a:noFill/>
          <a:ln/>
        </p:spPr>
        <p:txBody>
          <a:bodyPr wrap="square" rtlCol="0" anchor="ctr"/>
          <a:lstStyle/>
          <a:p>
            <a:pPr marL="0" indent="0" algn="r">
              <a:buNone/>
            </a:pPr>
            <a:r>
              <a:rPr lang="en-US" sz="2200" b="1" dirty="0">
                <a:solidFill>
                  <a:srgbClr val="2C5F2D"/>
                </a:solidFill>
                <a:latin typeface="Cambria" pitchFamily="34" charset="0"/>
                <a:ea typeface="Cambria" pitchFamily="34" charset="-122"/>
                <a:cs typeface="Cambria" pitchFamily="34" charset="-120"/>
              </a:rPr>
              <a:t>~28%</a:t>
            </a:r>
            <a:endParaRPr lang="en-US" sz="2200" dirty="0"/>
          </a:p>
        </p:txBody>
      </p:sp>
      <p:sp>
        <p:nvSpPr>
          <p:cNvPr id="10" name="Shape 8"/>
          <p:cNvSpPr/>
          <p:nvPr/>
        </p:nvSpPr>
        <p:spPr>
          <a:xfrm>
            <a:off x="548640" y="3429000"/>
            <a:ext cx="6035040" cy="822960"/>
          </a:xfrm>
          <a:prstGeom prst="roundRect">
            <a:avLst>
              <a:gd name="adj" fmla="val 8889"/>
            </a:avLst>
          </a:prstGeom>
          <a:solidFill>
            <a:srgbClr val="E9F2E4"/>
          </a:solidFill>
          <a:ln/>
        </p:spPr>
        <p:txBody>
          <a:bodyPr/>
          <a:lstStyle/>
          <a:p>
            <a:endParaRPr lang="en-US"/>
          </a:p>
        </p:txBody>
      </p:sp>
      <p:sp>
        <p:nvSpPr>
          <p:cNvPr id="11" name="Text 9"/>
          <p:cNvSpPr/>
          <p:nvPr/>
        </p:nvSpPr>
        <p:spPr>
          <a:xfrm>
            <a:off x="822960" y="3429000"/>
            <a:ext cx="3657600" cy="82296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Oncology</a:t>
            </a:r>
            <a:endParaRPr lang="en-US" sz="1500" dirty="0"/>
          </a:p>
        </p:txBody>
      </p:sp>
      <p:sp>
        <p:nvSpPr>
          <p:cNvPr id="12" name="Text 10"/>
          <p:cNvSpPr/>
          <p:nvPr/>
        </p:nvSpPr>
        <p:spPr>
          <a:xfrm>
            <a:off x="4572000" y="3429000"/>
            <a:ext cx="1828800" cy="822960"/>
          </a:xfrm>
          <a:prstGeom prst="rect">
            <a:avLst/>
          </a:prstGeom>
          <a:noFill/>
          <a:ln/>
        </p:spPr>
        <p:txBody>
          <a:bodyPr wrap="square" rtlCol="0" anchor="ctr"/>
          <a:lstStyle/>
          <a:p>
            <a:pPr marL="0" indent="0" algn="r">
              <a:buNone/>
            </a:pPr>
            <a:r>
              <a:rPr lang="en-US" sz="2200" b="1" dirty="0">
                <a:solidFill>
                  <a:srgbClr val="2C5F2D"/>
                </a:solidFill>
                <a:latin typeface="Cambria" pitchFamily="34" charset="0"/>
                <a:ea typeface="Cambria" pitchFamily="34" charset="-122"/>
                <a:cs typeface="Cambria" pitchFamily="34" charset="-120"/>
              </a:rPr>
              <a:t>~25%</a:t>
            </a:r>
            <a:endParaRPr lang="en-US" sz="2200" dirty="0"/>
          </a:p>
        </p:txBody>
      </p:sp>
      <p:sp>
        <p:nvSpPr>
          <p:cNvPr id="13" name="Shape 11"/>
          <p:cNvSpPr/>
          <p:nvPr/>
        </p:nvSpPr>
        <p:spPr>
          <a:xfrm>
            <a:off x="548640" y="4389120"/>
            <a:ext cx="6035040" cy="822960"/>
          </a:xfrm>
          <a:prstGeom prst="roundRect">
            <a:avLst>
              <a:gd name="adj" fmla="val 8889"/>
            </a:avLst>
          </a:prstGeom>
          <a:solidFill>
            <a:srgbClr val="E9F2E4"/>
          </a:solidFill>
          <a:ln/>
        </p:spPr>
        <p:txBody>
          <a:bodyPr/>
          <a:lstStyle/>
          <a:p>
            <a:endParaRPr lang="en-US"/>
          </a:p>
        </p:txBody>
      </p:sp>
      <p:sp>
        <p:nvSpPr>
          <p:cNvPr id="14" name="Text 12"/>
          <p:cNvSpPr/>
          <p:nvPr/>
        </p:nvSpPr>
        <p:spPr>
          <a:xfrm>
            <a:off x="822960" y="4389120"/>
            <a:ext cx="3657600" cy="82296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ICU</a:t>
            </a:r>
            <a:endParaRPr lang="en-US" sz="1500" dirty="0"/>
          </a:p>
        </p:txBody>
      </p:sp>
      <p:sp>
        <p:nvSpPr>
          <p:cNvPr id="15" name="Text 13"/>
          <p:cNvSpPr/>
          <p:nvPr/>
        </p:nvSpPr>
        <p:spPr>
          <a:xfrm>
            <a:off x="4572000" y="4389120"/>
            <a:ext cx="1828800" cy="822960"/>
          </a:xfrm>
          <a:prstGeom prst="rect">
            <a:avLst/>
          </a:prstGeom>
          <a:noFill/>
          <a:ln/>
        </p:spPr>
        <p:txBody>
          <a:bodyPr wrap="square" rtlCol="0" anchor="ctr"/>
          <a:lstStyle/>
          <a:p>
            <a:pPr marL="0" indent="0" algn="r">
              <a:buNone/>
            </a:pPr>
            <a:r>
              <a:rPr lang="en-US" sz="2200" b="1" dirty="0">
                <a:solidFill>
                  <a:srgbClr val="2C5F2D"/>
                </a:solidFill>
                <a:latin typeface="Cambria" pitchFamily="34" charset="0"/>
                <a:ea typeface="Cambria" pitchFamily="34" charset="-122"/>
                <a:cs typeface="Cambria" pitchFamily="34" charset="-120"/>
              </a:rPr>
              <a:t>~24%</a:t>
            </a:r>
            <a:endParaRPr lang="en-US" sz="2200" dirty="0"/>
          </a:p>
        </p:txBody>
      </p:sp>
      <p:sp>
        <p:nvSpPr>
          <p:cNvPr id="16" name="Shape 14"/>
          <p:cNvSpPr/>
          <p:nvPr/>
        </p:nvSpPr>
        <p:spPr>
          <a:xfrm>
            <a:off x="548640" y="5349240"/>
            <a:ext cx="6035040" cy="822960"/>
          </a:xfrm>
          <a:prstGeom prst="roundRect">
            <a:avLst>
              <a:gd name="adj" fmla="val 8889"/>
            </a:avLst>
          </a:prstGeom>
          <a:solidFill>
            <a:srgbClr val="2C5F2D"/>
          </a:solidFill>
          <a:ln/>
        </p:spPr>
        <p:txBody>
          <a:bodyPr/>
          <a:lstStyle/>
          <a:p>
            <a:endParaRPr lang="en-US"/>
          </a:p>
        </p:txBody>
      </p:sp>
      <p:sp>
        <p:nvSpPr>
          <p:cNvPr id="17" name="Text 15"/>
          <p:cNvSpPr/>
          <p:nvPr/>
        </p:nvSpPr>
        <p:spPr>
          <a:xfrm>
            <a:off x="822960" y="5349240"/>
            <a:ext cx="3657600" cy="8229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Hospital Overall</a:t>
            </a:r>
            <a:endParaRPr lang="en-US" sz="1500" dirty="0"/>
          </a:p>
        </p:txBody>
      </p:sp>
      <p:sp>
        <p:nvSpPr>
          <p:cNvPr id="18" name="Text 16"/>
          <p:cNvSpPr/>
          <p:nvPr/>
        </p:nvSpPr>
        <p:spPr>
          <a:xfrm>
            <a:off x="4572000" y="5349240"/>
            <a:ext cx="1828800" cy="822960"/>
          </a:xfrm>
          <a:prstGeom prst="rect">
            <a:avLst/>
          </a:prstGeom>
          <a:noFill/>
          <a:ln/>
        </p:spPr>
        <p:txBody>
          <a:bodyPr wrap="square" rtlCol="0" anchor="ctr"/>
          <a:lstStyle/>
          <a:p>
            <a:pPr marL="0" indent="0" algn="r">
              <a:buNone/>
            </a:pPr>
            <a:r>
              <a:rPr lang="en-US" sz="2200" b="1" dirty="0">
                <a:solidFill>
                  <a:srgbClr val="FFFFFF"/>
                </a:solidFill>
                <a:latin typeface="Cambria" pitchFamily="34" charset="0"/>
                <a:ea typeface="Cambria" pitchFamily="34" charset="-122"/>
                <a:cs typeface="Cambria" pitchFamily="34" charset="-120"/>
              </a:rPr>
              <a:t>21%</a:t>
            </a:r>
            <a:endParaRPr lang="en-US" sz="2200" dirty="0"/>
          </a:p>
        </p:txBody>
      </p:sp>
      <p:sp>
        <p:nvSpPr>
          <p:cNvPr id="19" name="Text 17"/>
          <p:cNvSpPr/>
          <p:nvPr/>
        </p:nvSpPr>
        <p:spPr>
          <a:xfrm>
            <a:off x="6949440" y="1965960"/>
            <a:ext cx="4663440" cy="365760"/>
          </a:xfrm>
          <a:prstGeom prst="rect">
            <a:avLst/>
          </a:prstGeom>
          <a:noFill/>
          <a:ln/>
        </p:spPr>
        <p:txBody>
          <a:bodyPr wrap="square"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Age Group Requiring Greater Follow-Up</a:t>
            </a:r>
            <a:endParaRPr lang="en-US" sz="1500" dirty="0"/>
          </a:p>
        </p:txBody>
      </p:sp>
      <p:sp>
        <p:nvSpPr>
          <p:cNvPr id="20" name="Shape 18"/>
          <p:cNvSpPr/>
          <p:nvPr/>
        </p:nvSpPr>
        <p:spPr>
          <a:xfrm>
            <a:off x="6949440" y="2468880"/>
            <a:ext cx="4663440" cy="2743200"/>
          </a:xfrm>
          <a:prstGeom prst="roundRect">
            <a:avLst>
              <a:gd name="adj" fmla="val 4000"/>
            </a:avLst>
          </a:prstGeom>
          <a:solidFill>
            <a:srgbClr val="1B3B1E"/>
          </a:solidFill>
          <a:ln/>
        </p:spPr>
        <p:txBody>
          <a:bodyPr/>
          <a:lstStyle/>
          <a:p>
            <a:endParaRPr lang="en-US"/>
          </a:p>
        </p:txBody>
      </p:sp>
      <p:sp>
        <p:nvSpPr>
          <p:cNvPr id="21" name="Text 19"/>
          <p:cNvSpPr/>
          <p:nvPr/>
        </p:nvSpPr>
        <p:spPr>
          <a:xfrm>
            <a:off x="6949440" y="2697480"/>
            <a:ext cx="4663440" cy="1051560"/>
          </a:xfrm>
          <a:prstGeom prst="rect">
            <a:avLst/>
          </a:prstGeom>
          <a:noFill/>
          <a:ln/>
        </p:spPr>
        <p:txBody>
          <a:bodyPr wrap="square" rtlCol="0" anchor="ctr"/>
          <a:lstStyle/>
          <a:p>
            <a:pPr marL="0" indent="0" algn="ctr">
              <a:buNone/>
            </a:pPr>
            <a:r>
              <a:rPr lang="en-US" sz="5800" b="1" dirty="0">
                <a:solidFill>
                  <a:srgbClr val="6FA766"/>
                </a:solidFill>
                <a:latin typeface="Cambria" pitchFamily="34" charset="0"/>
                <a:ea typeface="Cambria" pitchFamily="34" charset="-122"/>
                <a:cs typeface="Cambria" pitchFamily="34" charset="-120"/>
              </a:rPr>
              <a:t>38%</a:t>
            </a:r>
            <a:endParaRPr lang="en-US" sz="5800" dirty="0"/>
          </a:p>
        </p:txBody>
      </p:sp>
      <p:sp>
        <p:nvSpPr>
          <p:cNvPr id="22" name="Text 20"/>
          <p:cNvSpPr/>
          <p:nvPr/>
        </p:nvSpPr>
        <p:spPr>
          <a:xfrm>
            <a:off x="7223760" y="3840480"/>
            <a:ext cx="4114800" cy="1188720"/>
          </a:xfrm>
          <a:prstGeom prst="rect">
            <a:avLst/>
          </a:prstGeom>
          <a:noFill/>
          <a:ln/>
        </p:spPr>
        <p:txBody>
          <a:bodyPr wrap="square" rtlCol="0" anchor="t"/>
          <a:lstStyle/>
          <a:p>
            <a:pPr marL="0" indent="0" algn="ctr">
              <a:buNone/>
            </a:pPr>
            <a:r>
              <a:rPr lang="en-US" sz="1300" dirty="0">
                <a:solidFill>
                  <a:srgbClr val="FFFFFF"/>
                </a:solidFill>
                <a:latin typeface="Calibri" pitchFamily="34" charset="0"/>
                <a:ea typeface="Calibri" pitchFamily="34" charset="-122"/>
                <a:cs typeface="Calibri" pitchFamily="34" charset="-120"/>
              </a:rPr>
              <a:t>Readmission rate for patients aged 61+ — substantially higher than every other age group</a:t>
            </a:r>
            <a:endParaRPr lang="en-US" sz="1300" dirty="0"/>
          </a:p>
        </p:txBody>
      </p:sp>
      <p:sp>
        <p:nvSpPr>
          <p:cNvPr id="23" name="Shape 21"/>
          <p:cNvSpPr/>
          <p:nvPr/>
        </p:nvSpPr>
        <p:spPr>
          <a:xfrm>
            <a:off x="6949440" y="5394960"/>
            <a:ext cx="4663440" cy="777240"/>
          </a:xfrm>
          <a:prstGeom prst="roundRect">
            <a:avLst>
              <a:gd name="adj" fmla="val 11765"/>
            </a:avLst>
          </a:prstGeom>
          <a:solidFill>
            <a:srgbClr val="E9F2E4"/>
          </a:solidFill>
          <a:ln/>
        </p:spPr>
        <p:txBody>
          <a:bodyPr/>
          <a:lstStyle/>
          <a:p>
            <a:endParaRPr lang="en-US"/>
          </a:p>
        </p:txBody>
      </p:sp>
      <p:sp>
        <p:nvSpPr>
          <p:cNvPr id="24" name="Text 22"/>
          <p:cNvSpPr/>
          <p:nvPr/>
        </p:nvSpPr>
        <p:spPr>
          <a:xfrm>
            <a:off x="7178040" y="5394960"/>
            <a:ext cx="4206240" cy="777240"/>
          </a:xfrm>
          <a:prstGeom prst="rect">
            <a:avLst/>
          </a:prstGeom>
          <a:noFill/>
          <a:ln/>
        </p:spPr>
        <p:txBody>
          <a:bodyPr wrap="square" rtlCol="0" anchor="ctr"/>
          <a:lstStyle/>
          <a:p>
            <a:pPr marL="0" indent="0" algn="l">
              <a:buNone/>
            </a:pPr>
            <a:r>
              <a:rPr lang="en-US" sz="1150" i="1" dirty="0">
                <a:solidFill>
                  <a:srgbClr val="1F2B1A"/>
                </a:solidFill>
                <a:latin typeface="Calibri" pitchFamily="34" charset="0"/>
                <a:ea typeface="Calibri" pitchFamily="34" charset="-122"/>
                <a:cs typeface="Calibri" pitchFamily="34" charset="-120"/>
              </a:rPr>
              <a:t>Older patients likely need more intensive discharge planning, medication monitoring, and post-discharge support.</a:t>
            </a:r>
            <a:endParaRPr lang="en-US" sz="1150" dirty="0"/>
          </a:p>
        </p:txBody>
      </p:sp>
      <p:sp>
        <p:nvSpPr>
          <p:cNvPr id="25" name="Text 2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6035040" y="0"/>
            <a:ext cx="566928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3  —  Disease Burden, Stay &amp; Cost</a:t>
            </a:r>
            <a:endParaRPr lang="en-US" sz="1400" dirty="0"/>
          </a:p>
        </p:txBody>
      </p:sp>
      <p:sp>
        <p:nvSpPr>
          <p:cNvPr id="5" name="Shape 3"/>
          <p:cNvSpPr/>
          <p:nvPr/>
        </p:nvSpPr>
        <p:spPr>
          <a:xfrm>
            <a:off x="548640" y="1371600"/>
            <a:ext cx="5486400" cy="4846320"/>
          </a:xfrm>
          <a:prstGeom prst="roundRect">
            <a:avLst>
              <a:gd name="adj" fmla="val 1887"/>
            </a:avLst>
          </a:prstGeom>
          <a:solidFill>
            <a:srgbClr val="E9F2E4"/>
          </a:solidFill>
          <a:ln/>
        </p:spPr>
        <p:txBody>
          <a:bodyPr/>
          <a:lstStyle/>
          <a:p>
            <a:endParaRPr lang="en-US"/>
          </a:p>
        </p:txBody>
      </p:sp>
      <p:sp>
        <p:nvSpPr>
          <p:cNvPr id="6" name="Text 4"/>
          <p:cNvSpPr/>
          <p:nvPr/>
        </p:nvSpPr>
        <p:spPr>
          <a:xfrm>
            <a:off x="822960" y="1554480"/>
            <a:ext cx="4937760" cy="457200"/>
          </a:xfrm>
          <a:prstGeom prst="rect">
            <a:avLst/>
          </a:prstGeom>
          <a:noFill/>
          <a:ln/>
        </p:spPr>
        <p:txBody>
          <a:bodyPr wrap="square" rtlCol="0" anchor="ctr"/>
          <a:lstStyle/>
          <a:p>
            <a:pPr marL="0" indent="0">
              <a:buNone/>
            </a:pPr>
            <a:r>
              <a:rPr lang="en-US" sz="1600" b="1" dirty="0">
                <a:solidFill>
                  <a:srgbClr val="2C5F2D"/>
                </a:solidFill>
                <a:latin typeface="Cambria" pitchFamily="34" charset="0"/>
                <a:ea typeface="Cambria" pitchFamily="34" charset="-122"/>
                <a:cs typeface="Cambria" pitchFamily="34" charset="-120"/>
              </a:rPr>
              <a:t>Disease Burden Is Concentrated</a:t>
            </a:r>
            <a:endParaRPr lang="en-US" sz="1600" dirty="0"/>
          </a:p>
        </p:txBody>
      </p:sp>
      <p:sp>
        <p:nvSpPr>
          <p:cNvPr id="7" name="Text 5"/>
          <p:cNvSpPr/>
          <p:nvPr/>
        </p:nvSpPr>
        <p:spPr>
          <a:xfrm>
            <a:off x="822960" y="2057400"/>
            <a:ext cx="4937760" cy="640080"/>
          </a:xfrm>
          <a:prstGeom prst="rect">
            <a:avLst/>
          </a:prstGeom>
          <a:noFill/>
          <a:ln/>
        </p:spPr>
        <p:txBody>
          <a:bodyPr wrap="square" rtlCol="0" anchor="t"/>
          <a:lstStyle/>
          <a:p>
            <a:pPr marL="0" indent="0">
              <a:buNone/>
            </a:pPr>
            <a:r>
              <a:rPr lang="en-US" sz="1250" dirty="0">
                <a:solidFill>
                  <a:srgbClr val="1F2B1A"/>
                </a:solidFill>
                <a:latin typeface="Calibri" pitchFamily="34" charset="0"/>
                <a:ea typeface="Calibri" pitchFamily="34" charset="-122"/>
                <a:cs typeface="Calibri" pitchFamily="34" charset="-120"/>
              </a:rPr>
              <a:t>Significant patient volumes are tied to a small set of recurring diagnoses — key targets for preventive care and patient education.</a:t>
            </a:r>
            <a:endParaRPr lang="en-US" sz="1250" dirty="0"/>
          </a:p>
        </p:txBody>
      </p:sp>
      <p:sp>
        <p:nvSpPr>
          <p:cNvPr id="8" name="Shape 6"/>
          <p:cNvSpPr/>
          <p:nvPr/>
        </p:nvSpPr>
        <p:spPr>
          <a:xfrm>
            <a:off x="822960" y="2843784"/>
            <a:ext cx="128016" cy="128016"/>
          </a:xfrm>
          <a:prstGeom prst="ellipse">
            <a:avLst/>
          </a:prstGeom>
          <a:solidFill>
            <a:srgbClr val="6FA766"/>
          </a:solidFill>
          <a:ln/>
        </p:spPr>
        <p:txBody>
          <a:bodyPr/>
          <a:lstStyle/>
          <a:p>
            <a:endParaRPr lang="en-US"/>
          </a:p>
        </p:txBody>
      </p:sp>
      <p:sp>
        <p:nvSpPr>
          <p:cNvPr id="9" name="Text 7"/>
          <p:cNvSpPr/>
          <p:nvPr/>
        </p:nvSpPr>
        <p:spPr>
          <a:xfrm>
            <a:off x="1097280" y="2788920"/>
            <a:ext cx="4480560" cy="365760"/>
          </a:xfrm>
          <a:prstGeom prst="rect">
            <a:avLst/>
          </a:prstGeom>
          <a:noFill/>
          <a:ln/>
        </p:spPr>
        <p:txBody>
          <a:bodyPr wrap="square" rtlCol="0" anchor="ctr"/>
          <a:lstStyle/>
          <a:p>
            <a:pPr marL="0" indent="0">
              <a:buNone/>
            </a:pPr>
            <a:r>
              <a:rPr lang="en-US" sz="1350" dirty="0">
                <a:solidFill>
                  <a:srgbClr val="1F2B1A"/>
                </a:solidFill>
                <a:latin typeface="Calibri" pitchFamily="34" charset="0"/>
                <a:ea typeface="Calibri" pitchFamily="34" charset="-122"/>
                <a:cs typeface="Calibri" pitchFamily="34" charset="-120"/>
              </a:rPr>
              <a:t>Malaria</a:t>
            </a:r>
            <a:endParaRPr lang="en-US" sz="1350" dirty="0"/>
          </a:p>
        </p:txBody>
      </p:sp>
      <p:sp>
        <p:nvSpPr>
          <p:cNvPr id="10" name="Shape 8"/>
          <p:cNvSpPr/>
          <p:nvPr/>
        </p:nvSpPr>
        <p:spPr>
          <a:xfrm>
            <a:off x="822960" y="3300984"/>
            <a:ext cx="128016" cy="128016"/>
          </a:xfrm>
          <a:prstGeom prst="ellipse">
            <a:avLst/>
          </a:prstGeom>
          <a:solidFill>
            <a:srgbClr val="6FA766"/>
          </a:solidFill>
          <a:ln/>
        </p:spPr>
        <p:txBody>
          <a:bodyPr/>
          <a:lstStyle/>
          <a:p>
            <a:endParaRPr lang="en-US"/>
          </a:p>
        </p:txBody>
      </p:sp>
      <p:sp>
        <p:nvSpPr>
          <p:cNvPr id="11" name="Text 9"/>
          <p:cNvSpPr/>
          <p:nvPr/>
        </p:nvSpPr>
        <p:spPr>
          <a:xfrm>
            <a:off x="1097280" y="3246120"/>
            <a:ext cx="4480560" cy="365760"/>
          </a:xfrm>
          <a:prstGeom prst="rect">
            <a:avLst/>
          </a:prstGeom>
          <a:noFill/>
          <a:ln/>
        </p:spPr>
        <p:txBody>
          <a:bodyPr wrap="square" rtlCol="0" anchor="ctr"/>
          <a:lstStyle/>
          <a:p>
            <a:pPr marL="0" indent="0">
              <a:buNone/>
            </a:pPr>
            <a:r>
              <a:rPr lang="en-US" sz="1350" dirty="0">
                <a:solidFill>
                  <a:srgbClr val="1F2B1A"/>
                </a:solidFill>
                <a:latin typeface="Calibri" pitchFamily="34" charset="0"/>
                <a:ea typeface="Calibri" pitchFamily="34" charset="-122"/>
                <a:cs typeface="Calibri" pitchFamily="34" charset="-120"/>
              </a:rPr>
              <a:t>Diabetes</a:t>
            </a:r>
            <a:endParaRPr lang="en-US" sz="1350" dirty="0"/>
          </a:p>
        </p:txBody>
      </p:sp>
      <p:sp>
        <p:nvSpPr>
          <p:cNvPr id="12" name="Shape 10"/>
          <p:cNvSpPr/>
          <p:nvPr/>
        </p:nvSpPr>
        <p:spPr>
          <a:xfrm>
            <a:off x="822960" y="3758184"/>
            <a:ext cx="128016" cy="128016"/>
          </a:xfrm>
          <a:prstGeom prst="ellipse">
            <a:avLst/>
          </a:prstGeom>
          <a:solidFill>
            <a:srgbClr val="6FA766"/>
          </a:solidFill>
          <a:ln/>
        </p:spPr>
        <p:txBody>
          <a:bodyPr/>
          <a:lstStyle/>
          <a:p>
            <a:endParaRPr lang="en-US"/>
          </a:p>
        </p:txBody>
      </p:sp>
      <p:sp>
        <p:nvSpPr>
          <p:cNvPr id="13" name="Text 11"/>
          <p:cNvSpPr/>
          <p:nvPr/>
        </p:nvSpPr>
        <p:spPr>
          <a:xfrm>
            <a:off x="1097280" y="3703320"/>
            <a:ext cx="4480560" cy="365760"/>
          </a:xfrm>
          <a:prstGeom prst="rect">
            <a:avLst/>
          </a:prstGeom>
          <a:noFill/>
          <a:ln/>
        </p:spPr>
        <p:txBody>
          <a:bodyPr wrap="square" rtlCol="0" anchor="ctr"/>
          <a:lstStyle/>
          <a:p>
            <a:pPr marL="0" indent="0">
              <a:buNone/>
            </a:pPr>
            <a:r>
              <a:rPr lang="en-US" sz="1350" dirty="0">
                <a:solidFill>
                  <a:srgbClr val="1F2B1A"/>
                </a:solidFill>
                <a:latin typeface="Calibri" pitchFamily="34" charset="0"/>
                <a:ea typeface="Calibri" pitchFamily="34" charset="-122"/>
                <a:cs typeface="Calibri" pitchFamily="34" charset="-120"/>
              </a:rPr>
              <a:t>COVID-19</a:t>
            </a:r>
            <a:endParaRPr lang="en-US" sz="1350" dirty="0"/>
          </a:p>
        </p:txBody>
      </p:sp>
      <p:sp>
        <p:nvSpPr>
          <p:cNvPr id="14" name="Shape 12"/>
          <p:cNvSpPr/>
          <p:nvPr/>
        </p:nvSpPr>
        <p:spPr>
          <a:xfrm>
            <a:off x="822960" y="4215384"/>
            <a:ext cx="128016" cy="128016"/>
          </a:xfrm>
          <a:prstGeom prst="ellipse">
            <a:avLst/>
          </a:prstGeom>
          <a:solidFill>
            <a:srgbClr val="6FA766"/>
          </a:solidFill>
          <a:ln/>
        </p:spPr>
        <p:txBody>
          <a:bodyPr/>
          <a:lstStyle/>
          <a:p>
            <a:endParaRPr lang="en-US"/>
          </a:p>
        </p:txBody>
      </p:sp>
      <p:sp>
        <p:nvSpPr>
          <p:cNvPr id="15" name="Text 13"/>
          <p:cNvSpPr/>
          <p:nvPr/>
        </p:nvSpPr>
        <p:spPr>
          <a:xfrm>
            <a:off x="1097280" y="4160520"/>
            <a:ext cx="4480560" cy="365760"/>
          </a:xfrm>
          <a:prstGeom prst="rect">
            <a:avLst/>
          </a:prstGeom>
          <a:noFill/>
          <a:ln/>
        </p:spPr>
        <p:txBody>
          <a:bodyPr wrap="square" rtlCol="0" anchor="ctr"/>
          <a:lstStyle/>
          <a:p>
            <a:pPr marL="0" indent="0">
              <a:buNone/>
            </a:pPr>
            <a:r>
              <a:rPr lang="en-US" sz="1350" dirty="0">
                <a:solidFill>
                  <a:srgbClr val="1F2B1A"/>
                </a:solidFill>
                <a:latin typeface="Calibri" pitchFamily="34" charset="0"/>
                <a:ea typeface="Calibri" pitchFamily="34" charset="-122"/>
                <a:cs typeface="Calibri" pitchFamily="34" charset="-120"/>
              </a:rPr>
              <a:t>Kidney Disease</a:t>
            </a:r>
            <a:endParaRPr lang="en-US" sz="1350" dirty="0"/>
          </a:p>
        </p:txBody>
      </p:sp>
      <p:sp>
        <p:nvSpPr>
          <p:cNvPr id="16" name="Shape 14"/>
          <p:cNvSpPr/>
          <p:nvPr/>
        </p:nvSpPr>
        <p:spPr>
          <a:xfrm>
            <a:off x="822960" y="4672584"/>
            <a:ext cx="128016" cy="128016"/>
          </a:xfrm>
          <a:prstGeom prst="ellipse">
            <a:avLst/>
          </a:prstGeom>
          <a:solidFill>
            <a:srgbClr val="6FA766"/>
          </a:solidFill>
          <a:ln/>
        </p:spPr>
        <p:txBody>
          <a:bodyPr/>
          <a:lstStyle/>
          <a:p>
            <a:endParaRPr lang="en-US"/>
          </a:p>
        </p:txBody>
      </p:sp>
      <p:sp>
        <p:nvSpPr>
          <p:cNvPr id="17" name="Text 15"/>
          <p:cNvSpPr/>
          <p:nvPr/>
        </p:nvSpPr>
        <p:spPr>
          <a:xfrm>
            <a:off x="1097280" y="4617720"/>
            <a:ext cx="4480560" cy="365760"/>
          </a:xfrm>
          <a:prstGeom prst="rect">
            <a:avLst/>
          </a:prstGeom>
          <a:noFill/>
          <a:ln/>
        </p:spPr>
        <p:txBody>
          <a:bodyPr wrap="square" rtlCol="0" anchor="ctr"/>
          <a:lstStyle/>
          <a:p>
            <a:pPr marL="0" indent="0">
              <a:buNone/>
            </a:pPr>
            <a:r>
              <a:rPr lang="en-US" sz="1350" dirty="0">
                <a:solidFill>
                  <a:srgbClr val="1F2B1A"/>
                </a:solidFill>
                <a:latin typeface="Calibri" pitchFamily="34" charset="0"/>
                <a:ea typeface="Calibri" pitchFamily="34" charset="-122"/>
                <a:cs typeface="Calibri" pitchFamily="34" charset="-120"/>
              </a:rPr>
              <a:t>Fractures</a:t>
            </a:r>
            <a:endParaRPr lang="en-US" sz="1350" dirty="0"/>
          </a:p>
        </p:txBody>
      </p:sp>
      <p:sp>
        <p:nvSpPr>
          <p:cNvPr id="18" name="Shape 16"/>
          <p:cNvSpPr/>
          <p:nvPr/>
        </p:nvSpPr>
        <p:spPr>
          <a:xfrm>
            <a:off x="6309360" y="1371600"/>
            <a:ext cx="5349240" cy="2286000"/>
          </a:xfrm>
          <a:prstGeom prst="roundRect">
            <a:avLst>
              <a:gd name="adj" fmla="val 4000"/>
            </a:avLst>
          </a:prstGeom>
          <a:solidFill>
            <a:srgbClr val="2C5F2D"/>
          </a:solidFill>
          <a:ln/>
        </p:spPr>
        <p:txBody>
          <a:bodyPr/>
          <a:lstStyle/>
          <a:p>
            <a:endParaRPr lang="en-US"/>
          </a:p>
        </p:txBody>
      </p:sp>
      <p:sp>
        <p:nvSpPr>
          <p:cNvPr id="19" name="Text 17"/>
          <p:cNvSpPr/>
          <p:nvPr/>
        </p:nvSpPr>
        <p:spPr>
          <a:xfrm>
            <a:off x="6309360" y="1554480"/>
            <a:ext cx="5349240" cy="82296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7.46 days</a:t>
            </a:r>
            <a:endParaRPr lang="en-US" sz="3600" dirty="0"/>
          </a:p>
        </p:txBody>
      </p:sp>
      <p:sp>
        <p:nvSpPr>
          <p:cNvPr id="20" name="Text 18"/>
          <p:cNvSpPr/>
          <p:nvPr/>
        </p:nvSpPr>
        <p:spPr>
          <a:xfrm>
            <a:off x="6309360" y="2331720"/>
            <a:ext cx="5349240" cy="365760"/>
          </a:xfrm>
          <a:prstGeom prst="rect">
            <a:avLst/>
          </a:prstGeom>
          <a:noFill/>
          <a:ln/>
        </p:spPr>
        <p:txBody>
          <a:bodyPr wrap="square" rtlCol="0" anchor="ctr"/>
          <a:lstStyle/>
          <a:p>
            <a:pPr marL="0" indent="0" algn="ctr">
              <a:buNone/>
            </a:pPr>
            <a:r>
              <a:rPr lang="en-US" sz="1300" dirty="0">
                <a:solidFill>
                  <a:srgbClr val="6FA766"/>
                </a:solidFill>
                <a:latin typeface="Calibri" pitchFamily="34" charset="0"/>
                <a:ea typeface="Calibri" pitchFamily="34" charset="-122"/>
                <a:cs typeface="Calibri" pitchFamily="34" charset="-120"/>
              </a:rPr>
              <a:t>Average Length of Stay</a:t>
            </a:r>
            <a:endParaRPr lang="en-US" sz="1300" dirty="0"/>
          </a:p>
        </p:txBody>
      </p:sp>
      <p:sp>
        <p:nvSpPr>
          <p:cNvPr id="21" name="Text 19"/>
          <p:cNvSpPr/>
          <p:nvPr/>
        </p:nvSpPr>
        <p:spPr>
          <a:xfrm>
            <a:off x="6583680" y="2743200"/>
            <a:ext cx="4800600" cy="82296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Substantial resource utilization worth investigating for delays in procedures, bed availability, or discharge processes.</a:t>
            </a:r>
            <a:endParaRPr lang="en-US" sz="1100" dirty="0"/>
          </a:p>
        </p:txBody>
      </p:sp>
      <p:sp>
        <p:nvSpPr>
          <p:cNvPr id="22" name="Shape 20"/>
          <p:cNvSpPr/>
          <p:nvPr/>
        </p:nvSpPr>
        <p:spPr>
          <a:xfrm>
            <a:off x="6309360" y="3931920"/>
            <a:ext cx="5349240" cy="2286000"/>
          </a:xfrm>
          <a:prstGeom prst="roundRect">
            <a:avLst>
              <a:gd name="adj" fmla="val 4000"/>
            </a:avLst>
          </a:prstGeom>
          <a:solidFill>
            <a:srgbClr val="1B3B1E"/>
          </a:solidFill>
          <a:ln/>
        </p:spPr>
        <p:txBody>
          <a:bodyPr/>
          <a:lstStyle/>
          <a:p>
            <a:endParaRPr lang="en-US"/>
          </a:p>
        </p:txBody>
      </p:sp>
      <p:sp>
        <p:nvSpPr>
          <p:cNvPr id="23" name="Text 21"/>
          <p:cNvSpPr/>
          <p:nvPr/>
        </p:nvSpPr>
        <p:spPr>
          <a:xfrm>
            <a:off x="6309360" y="4114800"/>
            <a:ext cx="5349240" cy="82296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₦330.28K</a:t>
            </a:r>
            <a:endParaRPr lang="en-US" sz="3600" dirty="0"/>
          </a:p>
        </p:txBody>
      </p:sp>
      <p:sp>
        <p:nvSpPr>
          <p:cNvPr id="24" name="Text 22"/>
          <p:cNvSpPr/>
          <p:nvPr/>
        </p:nvSpPr>
        <p:spPr>
          <a:xfrm>
            <a:off x="6309360" y="4892040"/>
            <a:ext cx="5349240" cy="365760"/>
          </a:xfrm>
          <a:prstGeom prst="rect">
            <a:avLst/>
          </a:prstGeom>
          <a:noFill/>
          <a:ln/>
        </p:spPr>
        <p:txBody>
          <a:bodyPr wrap="square" rtlCol="0" anchor="ctr"/>
          <a:lstStyle/>
          <a:p>
            <a:pPr marL="0" indent="0" algn="ctr">
              <a:buNone/>
            </a:pPr>
            <a:r>
              <a:rPr lang="en-US" sz="1300" dirty="0">
                <a:solidFill>
                  <a:srgbClr val="6FA766"/>
                </a:solidFill>
                <a:latin typeface="Calibri" pitchFamily="34" charset="0"/>
                <a:ea typeface="Calibri" pitchFamily="34" charset="-122"/>
                <a:cs typeface="Calibri" pitchFamily="34" charset="-120"/>
              </a:rPr>
              <a:t>Average Treatment Cost</a:t>
            </a:r>
            <a:endParaRPr lang="en-US" sz="1300" dirty="0"/>
          </a:p>
        </p:txBody>
      </p:sp>
      <p:sp>
        <p:nvSpPr>
          <p:cNvPr id="25" name="Text 23"/>
          <p:cNvSpPr/>
          <p:nvPr/>
        </p:nvSpPr>
        <p:spPr>
          <a:xfrm>
            <a:off x="6583680" y="5303520"/>
            <a:ext cx="4800600" cy="82296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Management should track cost drivers by department, diagnosis, and patient group.</a:t>
            </a:r>
            <a:endParaRPr lang="en-US" sz="1100" dirty="0"/>
          </a:p>
        </p:txBody>
      </p:sp>
      <p:sp>
        <p:nvSpPr>
          <p:cNvPr id="26" name="Text 2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4297680" y="0"/>
            <a:ext cx="740664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4  —  Which Month Has the Highest Readmission Rate?</a:t>
            </a:r>
            <a:endParaRPr lang="en-US" sz="1400" dirty="0"/>
          </a:p>
        </p:txBody>
      </p:sp>
      <p:graphicFrame>
        <p:nvGraphicFramePr>
          <p:cNvPr id="5" name="Chart 0"/>
          <p:cNvGraphicFramePr/>
          <p:nvPr/>
        </p:nvGraphicFramePr>
        <p:xfrm>
          <a:off x="548640" y="1325880"/>
          <a:ext cx="77724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549640" y="1325880"/>
            <a:ext cx="3108960" cy="4846320"/>
          </a:xfrm>
          <a:prstGeom prst="roundRect">
            <a:avLst>
              <a:gd name="adj" fmla="val 2941"/>
            </a:avLst>
          </a:prstGeom>
          <a:solidFill>
            <a:srgbClr val="1B3B1E"/>
          </a:solidFill>
          <a:ln/>
        </p:spPr>
        <p:txBody>
          <a:bodyPr/>
          <a:lstStyle/>
          <a:p>
            <a:endParaRPr lang="en-US"/>
          </a:p>
        </p:txBody>
      </p:sp>
      <p:sp>
        <p:nvSpPr>
          <p:cNvPr id="7" name="Text 4"/>
          <p:cNvSpPr/>
          <p:nvPr/>
        </p:nvSpPr>
        <p:spPr>
          <a:xfrm>
            <a:off x="8778240" y="1508760"/>
            <a:ext cx="2651760" cy="502920"/>
          </a:xfrm>
          <a:prstGeom prst="rect">
            <a:avLst/>
          </a:prstGeom>
          <a:noFill/>
          <a:ln/>
        </p:spPr>
        <p:txBody>
          <a:bodyPr wrap="square" rtlCol="0" anchor="ctr"/>
          <a:lstStyle/>
          <a:p>
            <a:pPr marL="0" indent="0">
              <a:buNone/>
            </a:pPr>
            <a:r>
              <a:rPr lang="en-US" sz="2200" b="1" dirty="0">
                <a:solidFill>
                  <a:srgbClr val="6FA766"/>
                </a:solidFill>
                <a:latin typeface="Cambria" pitchFamily="34" charset="0"/>
                <a:ea typeface="Cambria" pitchFamily="34" charset="-122"/>
                <a:cs typeface="Cambria" pitchFamily="34" charset="-120"/>
              </a:rPr>
              <a:t>September</a:t>
            </a:r>
            <a:endParaRPr lang="en-US" sz="2200" dirty="0"/>
          </a:p>
        </p:txBody>
      </p:sp>
      <p:sp>
        <p:nvSpPr>
          <p:cNvPr id="8" name="Text 5"/>
          <p:cNvSpPr/>
          <p:nvPr/>
        </p:nvSpPr>
        <p:spPr>
          <a:xfrm>
            <a:off x="8778240" y="2011680"/>
            <a:ext cx="2651760" cy="7315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Highest readmission rate of the year, at approximately 29–30%.</a:t>
            </a:r>
            <a:endParaRPr lang="en-US" sz="1200" dirty="0"/>
          </a:p>
        </p:txBody>
      </p:sp>
      <p:sp>
        <p:nvSpPr>
          <p:cNvPr id="9" name="Shape 6"/>
          <p:cNvSpPr/>
          <p:nvPr/>
        </p:nvSpPr>
        <p:spPr>
          <a:xfrm>
            <a:off x="8778240" y="2880360"/>
            <a:ext cx="2651760" cy="18288"/>
          </a:xfrm>
          <a:prstGeom prst="rect">
            <a:avLst/>
          </a:prstGeom>
          <a:solidFill>
            <a:srgbClr val="6FA766">
              <a:alpha val="60000"/>
            </a:srgbClr>
          </a:solidFill>
          <a:ln/>
        </p:spPr>
        <p:txBody>
          <a:bodyPr/>
          <a:lstStyle/>
          <a:p>
            <a:endParaRPr lang="en-US"/>
          </a:p>
        </p:txBody>
      </p:sp>
      <p:sp>
        <p:nvSpPr>
          <p:cNvPr id="10" name="Text 7"/>
          <p:cNvSpPr/>
          <p:nvPr/>
        </p:nvSpPr>
        <p:spPr>
          <a:xfrm>
            <a:off x="8778240" y="3017520"/>
            <a:ext cx="2651760" cy="365760"/>
          </a:xfrm>
          <a:prstGeom prst="rect">
            <a:avLst/>
          </a:prstGeom>
          <a:noFill/>
          <a:ln/>
        </p:spPr>
        <p:txBody>
          <a:bodyPr wrap="square" rtlCol="0" anchor="ctr"/>
          <a:lstStyle/>
          <a:p>
            <a:pPr marL="0" indent="0">
              <a:buNone/>
            </a:pPr>
            <a:r>
              <a:rPr lang="en-US" sz="1250" b="1" dirty="0">
                <a:solidFill>
                  <a:srgbClr val="6FA766"/>
                </a:solidFill>
                <a:latin typeface="Calibri" pitchFamily="34" charset="0"/>
                <a:ea typeface="Calibri" pitchFamily="34" charset="-122"/>
                <a:cs typeface="Calibri" pitchFamily="34" charset="-120"/>
              </a:rPr>
              <a:t>Secondary peaks</a:t>
            </a:r>
            <a:endParaRPr lang="en-US" sz="1250" dirty="0"/>
          </a:p>
        </p:txBody>
      </p:sp>
      <p:sp>
        <p:nvSpPr>
          <p:cNvPr id="11" name="Text 8"/>
          <p:cNvSpPr/>
          <p:nvPr/>
        </p:nvSpPr>
        <p:spPr>
          <a:xfrm>
            <a:off x="8778240" y="3383280"/>
            <a:ext cx="2651760" cy="1097280"/>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October (~26%), December (~25.5%) and January (~25%) also run high — all just after or during holiday / year-end admission surges.</a:t>
            </a:r>
            <a:endParaRPr lang="en-US" sz="1150" dirty="0"/>
          </a:p>
        </p:txBody>
      </p:sp>
      <p:sp>
        <p:nvSpPr>
          <p:cNvPr id="12" name="Text 9"/>
          <p:cNvSpPr/>
          <p:nvPr/>
        </p:nvSpPr>
        <p:spPr>
          <a:xfrm>
            <a:off x="8778240" y="4617720"/>
            <a:ext cx="2651760" cy="1371600"/>
          </a:xfrm>
          <a:prstGeom prst="rect">
            <a:avLst/>
          </a:prstGeom>
          <a:noFill/>
          <a:ln/>
        </p:spPr>
        <p:txBody>
          <a:bodyPr wrap="square" rtlCol="0" anchor="t"/>
          <a:lstStyle/>
          <a:p>
            <a:pPr marL="0" indent="0">
              <a:buNone/>
            </a:pPr>
            <a:r>
              <a:rPr lang="en-US" sz="1150" i="1" dirty="0">
                <a:solidFill>
                  <a:srgbClr val="6FA766"/>
                </a:solidFill>
                <a:latin typeface="Calibri" pitchFamily="34" charset="0"/>
                <a:ea typeface="Calibri" pitchFamily="34" charset="-122"/>
                <a:cs typeface="Calibri" pitchFamily="34" charset="-120"/>
              </a:rPr>
              <a:t>Implication: discharge follow-up staffing should scale up ahead of Sept, Oct, Dec and Jan.</a:t>
            </a:r>
            <a:endParaRPr lang="en-US" sz="1150" dirty="0"/>
          </a:p>
        </p:txBody>
      </p:sp>
      <p:sp>
        <p:nvSpPr>
          <p:cNvPr id="13" name="Text 1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4297680" y="0"/>
            <a:ext cx="740664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5  —  Do Shorter Stays Result in More Readmissions?</a:t>
            </a:r>
            <a:endParaRPr lang="en-US" sz="1400" dirty="0"/>
          </a:p>
        </p:txBody>
      </p:sp>
      <p:graphicFrame>
        <p:nvGraphicFramePr>
          <p:cNvPr id="5" name="Chart 0"/>
          <p:cNvGraphicFramePr/>
          <p:nvPr/>
        </p:nvGraphicFramePr>
        <p:xfrm>
          <a:off x="640080" y="1463040"/>
          <a:ext cx="51206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26480" y="1463040"/>
            <a:ext cx="5486400" cy="2148840"/>
          </a:xfrm>
          <a:prstGeom prst="roundRect">
            <a:avLst>
              <a:gd name="adj" fmla="val 5106"/>
            </a:avLst>
          </a:prstGeom>
          <a:solidFill>
            <a:srgbClr val="E9F2E4"/>
          </a:solidFill>
          <a:ln/>
        </p:spPr>
        <p:txBody>
          <a:bodyPr/>
          <a:lstStyle/>
          <a:p>
            <a:endParaRPr lang="en-US"/>
          </a:p>
        </p:txBody>
      </p:sp>
      <p:sp>
        <p:nvSpPr>
          <p:cNvPr id="7" name="Text 4"/>
          <p:cNvSpPr/>
          <p:nvPr/>
        </p:nvSpPr>
        <p:spPr>
          <a:xfrm>
            <a:off x="6400800" y="1627632"/>
            <a:ext cx="4937760" cy="777240"/>
          </a:xfrm>
          <a:prstGeom prst="rect">
            <a:avLst/>
          </a:prstGeom>
          <a:noFill/>
          <a:ln/>
        </p:spPr>
        <p:txBody>
          <a:bodyPr wrap="square" rtlCol="0" anchor="ctr"/>
          <a:lstStyle/>
          <a:p>
            <a:pPr marL="0" indent="0">
              <a:buNone/>
            </a:pPr>
            <a:r>
              <a:rPr lang="en-US" sz="4000" b="1" dirty="0">
                <a:solidFill>
                  <a:srgbClr val="2C5F2D"/>
                </a:solidFill>
                <a:latin typeface="Cambria" pitchFamily="34" charset="0"/>
                <a:ea typeface="Cambria" pitchFamily="34" charset="-122"/>
                <a:cs typeface="Cambria" pitchFamily="34" charset="-120"/>
              </a:rPr>
              <a:t>53.33%</a:t>
            </a:r>
            <a:endParaRPr lang="en-US" sz="4000" dirty="0"/>
          </a:p>
        </p:txBody>
      </p:sp>
      <p:sp>
        <p:nvSpPr>
          <p:cNvPr id="8" name="Text 5"/>
          <p:cNvSpPr/>
          <p:nvPr/>
        </p:nvSpPr>
        <p:spPr>
          <a:xfrm>
            <a:off x="6400800" y="2395728"/>
            <a:ext cx="4937760" cy="1097280"/>
          </a:xfrm>
          <a:prstGeom prst="rect">
            <a:avLst/>
          </a:prstGeom>
          <a:noFill/>
          <a:ln/>
        </p:spPr>
        <p:txBody>
          <a:bodyPr wrap="square" rtlCol="0" anchor="t"/>
          <a:lstStyle/>
          <a:p>
            <a:pPr marL="0" indent="0">
              <a:buNone/>
            </a:pPr>
            <a:r>
              <a:rPr lang="en-US" sz="1250" dirty="0">
                <a:solidFill>
                  <a:srgbClr val="1F2B1A"/>
                </a:solidFill>
                <a:latin typeface="Calibri" pitchFamily="34" charset="0"/>
                <a:ea typeface="Calibri" pitchFamily="34" charset="-122"/>
                <a:cs typeface="Calibri" pitchFamily="34" charset="-120"/>
              </a:rPr>
              <a:t>of readmitted patients had a SHORTER stay (1–6 days) on their prior admission, vs. 46.67% for longer stays (7–14 days).</a:t>
            </a:r>
            <a:endParaRPr lang="en-US" sz="1250" dirty="0"/>
          </a:p>
        </p:txBody>
      </p:sp>
      <p:sp>
        <p:nvSpPr>
          <p:cNvPr id="9" name="Shape 6"/>
          <p:cNvSpPr/>
          <p:nvPr/>
        </p:nvSpPr>
        <p:spPr>
          <a:xfrm>
            <a:off x="6126480" y="3794760"/>
            <a:ext cx="5486400" cy="2377440"/>
          </a:xfrm>
          <a:prstGeom prst="roundRect">
            <a:avLst>
              <a:gd name="adj" fmla="val 4615"/>
            </a:avLst>
          </a:prstGeom>
          <a:solidFill>
            <a:srgbClr val="1B3B1E"/>
          </a:solidFill>
          <a:ln/>
        </p:spPr>
        <p:txBody>
          <a:bodyPr/>
          <a:lstStyle/>
          <a:p>
            <a:endParaRPr lang="en-US"/>
          </a:p>
        </p:txBody>
      </p:sp>
      <p:sp>
        <p:nvSpPr>
          <p:cNvPr id="10" name="Text 7"/>
          <p:cNvSpPr/>
          <p:nvPr/>
        </p:nvSpPr>
        <p:spPr>
          <a:xfrm>
            <a:off x="6400800" y="3977640"/>
            <a:ext cx="4937760" cy="365760"/>
          </a:xfrm>
          <a:prstGeom prst="rect">
            <a:avLst/>
          </a:prstGeom>
          <a:noFill/>
          <a:ln/>
        </p:spPr>
        <p:txBody>
          <a:bodyPr wrap="square" rtlCol="0" anchor="ctr"/>
          <a:lstStyle/>
          <a:p>
            <a:pPr marL="0" indent="0">
              <a:buNone/>
            </a:pPr>
            <a:r>
              <a:rPr lang="en-US" sz="1500" b="1" dirty="0">
                <a:solidFill>
                  <a:srgbClr val="6FA766"/>
                </a:solidFill>
                <a:latin typeface="Cambria" pitchFamily="34" charset="0"/>
                <a:ea typeface="Cambria" pitchFamily="34" charset="-122"/>
                <a:cs typeface="Cambria" pitchFamily="34" charset="-120"/>
              </a:rPr>
              <a:t>What this suggests</a:t>
            </a:r>
            <a:endParaRPr lang="en-US" sz="1500" dirty="0"/>
          </a:p>
        </p:txBody>
      </p:sp>
      <p:sp>
        <p:nvSpPr>
          <p:cNvPr id="11" name="Text 8"/>
          <p:cNvSpPr/>
          <p:nvPr/>
        </p:nvSpPr>
        <p:spPr>
          <a:xfrm>
            <a:off x="6400800" y="4389120"/>
            <a:ext cx="4937760" cy="1691640"/>
          </a:xfrm>
          <a:prstGeom prst="rect">
            <a:avLst/>
          </a:prstGeom>
          <a:noFill/>
          <a:ln/>
        </p:spPr>
        <p:txBody>
          <a:bodyPr wrap="square"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Yes — a modest but real association: shorter stays carry a slightly higher share of readmissions than longer stays. This points to possible early discharge before patients are clinically ready, warranting review of discharge-readiness criteria and post-discharge care rather than assuming shorter stays are simply ‘more efficient.’</a:t>
            </a:r>
            <a:endParaRPr lang="en-US" sz="1200" dirty="0"/>
          </a:p>
        </p:txBody>
      </p:sp>
      <p:sp>
        <p:nvSpPr>
          <p:cNvPr id="12" name="Text 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4297680" y="0"/>
            <a:ext cx="740664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6  —  Are Higher Costs Linked to Better Outcomes?</a:t>
            </a:r>
            <a:endParaRPr lang="en-US" sz="1400" dirty="0"/>
          </a:p>
        </p:txBody>
      </p:sp>
      <p:sp>
        <p:nvSpPr>
          <p:cNvPr id="5" name="Text 3"/>
          <p:cNvSpPr/>
          <p:nvPr/>
        </p:nvSpPr>
        <p:spPr>
          <a:xfrm>
            <a:off x="548640" y="1280160"/>
            <a:ext cx="11064240" cy="457200"/>
          </a:xfrm>
          <a:prstGeom prst="rect">
            <a:avLst/>
          </a:prstGeom>
          <a:noFill/>
          <a:ln/>
        </p:spPr>
        <p:txBody>
          <a:bodyPr wrap="square" rtlCol="0" anchor="ctr"/>
          <a:lstStyle/>
          <a:p>
            <a:pPr marL="0" indent="0">
              <a:buNone/>
            </a:pPr>
            <a:r>
              <a:rPr lang="en-US" sz="1400" i="1" dirty="0">
                <a:solidFill>
                  <a:srgbClr val="1F2B1A"/>
                </a:solidFill>
                <a:latin typeface="Calibri" pitchFamily="34" charset="0"/>
                <a:ea typeface="Calibri" pitchFamily="34" charset="-122"/>
                <a:cs typeface="Calibri" pitchFamily="34" charset="-120"/>
              </a:rPr>
              <a:t>No. The costliest outcome on average is Deceased — not Recovered.</a:t>
            </a:r>
            <a:endParaRPr lang="en-US" sz="1400" dirty="0"/>
          </a:p>
        </p:txBody>
      </p:sp>
      <p:sp>
        <p:nvSpPr>
          <p:cNvPr id="6" name="Shape 4"/>
          <p:cNvSpPr/>
          <p:nvPr/>
        </p:nvSpPr>
        <p:spPr>
          <a:xfrm>
            <a:off x="548640" y="1920240"/>
            <a:ext cx="7406640" cy="685800"/>
          </a:xfrm>
          <a:prstGeom prst="roundRect">
            <a:avLst>
              <a:gd name="adj" fmla="val 10667"/>
            </a:avLst>
          </a:prstGeom>
          <a:solidFill>
            <a:srgbClr val="1B3B1E"/>
          </a:solidFill>
          <a:ln/>
        </p:spPr>
        <p:txBody>
          <a:bodyPr/>
          <a:lstStyle/>
          <a:p>
            <a:endParaRPr lang="en-US"/>
          </a:p>
        </p:txBody>
      </p:sp>
      <p:sp>
        <p:nvSpPr>
          <p:cNvPr id="7" name="Text 5"/>
          <p:cNvSpPr/>
          <p:nvPr/>
        </p:nvSpPr>
        <p:spPr>
          <a:xfrm>
            <a:off x="822960" y="1920240"/>
            <a:ext cx="4114800" cy="6858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Deceased</a:t>
            </a:r>
            <a:endParaRPr lang="en-US" sz="1500" dirty="0"/>
          </a:p>
        </p:txBody>
      </p:sp>
      <p:sp>
        <p:nvSpPr>
          <p:cNvPr id="8" name="Text 6"/>
          <p:cNvSpPr/>
          <p:nvPr/>
        </p:nvSpPr>
        <p:spPr>
          <a:xfrm>
            <a:off x="4572000" y="1920240"/>
            <a:ext cx="3200400" cy="685800"/>
          </a:xfrm>
          <a:prstGeom prst="rect">
            <a:avLst/>
          </a:prstGeom>
          <a:noFill/>
          <a:ln/>
        </p:spPr>
        <p:txBody>
          <a:bodyPr wrap="square" rtlCol="0" anchor="ctr"/>
          <a:lstStyle/>
          <a:p>
            <a:pPr marL="0" indent="0" algn="r">
              <a:buNone/>
            </a:pPr>
            <a:r>
              <a:rPr lang="en-US" sz="1600" b="1" dirty="0">
                <a:solidFill>
                  <a:srgbClr val="6FA766"/>
                </a:solidFill>
                <a:latin typeface="Calibri" pitchFamily="34" charset="0"/>
                <a:ea typeface="Calibri" pitchFamily="34" charset="-122"/>
                <a:cs typeface="Calibri" pitchFamily="34" charset="-120"/>
              </a:rPr>
              <a:t>Highest avg. cost</a:t>
            </a:r>
            <a:endParaRPr lang="en-US" sz="1600" dirty="0"/>
          </a:p>
        </p:txBody>
      </p:sp>
      <p:sp>
        <p:nvSpPr>
          <p:cNvPr id="9" name="Shape 7"/>
          <p:cNvSpPr/>
          <p:nvPr/>
        </p:nvSpPr>
        <p:spPr>
          <a:xfrm>
            <a:off x="548640" y="2743200"/>
            <a:ext cx="7406640" cy="685800"/>
          </a:xfrm>
          <a:prstGeom prst="roundRect">
            <a:avLst>
              <a:gd name="adj" fmla="val 10667"/>
            </a:avLst>
          </a:prstGeom>
          <a:solidFill>
            <a:srgbClr val="E9F2E4"/>
          </a:solidFill>
          <a:ln/>
        </p:spPr>
        <p:txBody>
          <a:bodyPr/>
          <a:lstStyle/>
          <a:p>
            <a:endParaRPr lang="en-US"/>
          </a:p>
        </p:txBody>
      </p:sp>
      <p:sp>
        <p:nvSpPr>
          <p:cNvPr id="10" name="Text 8"/>
          <p:cNvSpPr/>
          <p:nvPr/>
        </p:nvSpPr>
        <p:spPr>
          <a:xfrm>
            <a:off x="822960" y="2743200"/>
            <a:ext cx="4114800" cy="68580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Improved</a:t>
            </a:r>
            <a:endParaRPr lang="en-US" sz="1500" dirty="0"/>
          </a:p>
        </p:txBody>
      </p:sp>
      <p:sp>
        <p:nvSpPr>
          <p:cNvPr id="11" name="Text 9"/>
          <p:cNvSpPr/>
          <p:nvPr/>
        </p:nvSpPr>
        <p:spPr>
          <a:xfrm>
            <a:off x="4572000" y="2743200"/>
            <a:ext cx="3200400" cy="685800"/>
          </a:xfrm>
          <a:prstGeom prst="rect">
            <a:avLst/>
          </a:prstGeom>
          <a:noFill/>
          <a:ln/>
        </p:spPr>
        <p:txBody>
          <a:bodyPr wrap="square" rtlCol="0" anchor="ctr"/>
          <a:lstStyle/>
          <a:p>
            <a:pPr marL="0" indent="0" algn="r">
              <a:buNone/>
            </a:pPr>
            <a:r>
              <a:rPr lang="en-US" sz="1600" b="1" dirty="0">
                <a:solidFill>
                  <a:srgbClr val="2C5F2D"/>
                </a:solidFill>
                <a:latin typeface="Calibri" pitchFamily="34" charset="0"/>
                <a:ea typeface="Calibri" pitchFamily="34" charset="-122"/>
                <a:cs typeface="Calibri" pitchFamily="34" charset="-120"/>
              </a:rPr>
              <a:t>₦334.48K</a:t>
            </a:r>
            <a:endParaRPr lang="en-US" sz="1600" dirty="0"/>
          </a:p>
        </p:txBody>
      </p:sp>
      <p:sp>
        <p:nvSpPr>
          <p:cNvPr id="12" name="Shape 10"/>
          <p:cNvSpPr/>
          <p:nvPr/>
        </p:nvSpPr>
        <p:spPr>
          <a:xfrm>
            <a:off x="548640" y="3566160"/>
            <a:ext cx="7406640" cy="685800"/>
          </a:xfrm>
          <a:prstGeom prst="roundRect">
            <a:avLst>
              <a:gd name="adj" fmla="val 10667"/>
            </a:avLst>
          </a:prstGeom>
          <a:solidFill>
            <a:srgbClr val="E9F2E4"/>
          </a:solidFill>
          <a:ln/>
        </p:spPr>
        <p:txBody>
          <a:bodyPr/>
          <a:lstStyle/>
          <a:p>
            <a:endParaRPr lang="en-US"/>
          </a:p>
        </p:txBody>
      </p:sp>
      <p:sp>
        <p:nvSpPr>
          <p:cNvPr id="13" name="Text 11"/>
          <p:cNvSpPr/>
          <p:nvPr/>
        </p:nvSpPr>
        <p:spPr>
          <a:xfrm>
            <a:off x="822960" y="3566160"/>
            <a:ext cx="4114800" cy="68580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Recovered</a:t>
            </a:r>
            <a:endParaRPr lang="en-US" sz="1500" dirty="0"/>
          </a:p>
        </p:txBody>
      </p:sp>
      <p:sp>
        <p:nvSpPr>
          <p:cNvPr id="14" name="Text 12"/>
          <p:cNvSpPr/>
          <p:nvPr/>
        </p:nvSpPr>
        <p:spPr>
          <a:xfrm>
            <a:off x="4572000" y="3566160"/>
            <a:ext cx="3200400" cy="685800"/>
          </a:xfrm>
          <a:prstGeom prst="rect">
            <a:avLst/>
          </a:prstGeom>
          <a:noFill/>
          <a:ln/>
        </p:spPr>
        <p:txBody>
          <a:bodyPr wrap="square" rtlCol="0" anchor="ctr"/>
          <a:lstStyle/>
          <a:p>
            <a:pPr marL="0" indent="0" algn="r">
              <a:buNone/>
            </a:pPr>
            <a:r>
              <a:rPr lang="en-US" sz="1600" b="1" dirty="0">
                <a:solidFill>
                  <a:srgbClr val="2C5F2D"/>
                </a:solidFill>
                <a:latin typeface="Calibri" pitchFamily="34" charset="0"/>
                <a:ea typeface="Calibri" pitchFamily="34" charset="-122"/>
                <a:cs typeface="Calibri" pitchFamily="34" charset="-120"/>
              </a:rPr>
              <a:t>₦332.30K</a:t>
            </a:r>
            <a:endParaRPr lang="en-US" sz="1600" dirty="0"/>
          </a:p>
        </p:txBody>
      </p:sp>
      <p:sp>
        <p:nvSpPr>
          <p:cNvPr id="15" name="Shape 13"/>
          <p:cNvSpPr/>
          <p:nvPr/>
        </p:nvSpPr>
        <p:spPr>
          <a:xfrm>
            <a:off x="548640" y="4389120"/>
            <a:ext cx="7406640" cy="685800"/>
          </a:xfrm>
          <a:prstGeom prst="roundRect">
            <a:avLst>
              <a:gd name="adj" fmla="val 10667"/>
            </a:avLst>
          </a:prstGeom>
          <a:solidFill>
            <a:srgbClr val="E9F2E4"/>
          </a:solidFill>
          <a:ln/>
        </p:spPr>
        <p:txBody>
          <a:bodyPr/>
          <a:lstStyle/>
          <a:p>
            <a:endParaRPr lang="en-US"/>
          </a:p>
        </p:txBody>
      </p:sp>
      <p:sp>
        <p:nvSpPr>
          <p:cNvPr id="16" name="Text 14"/>
          <p:cNvSpPr/>
          <p:nvPr/>
        </p:nvSpPr>
        <p:spPr>
          <a:xfrm>
            <a:off x="822960" y="4389120"/>
            <a:ext cx="4114800" cy="685800"/>
          </a:xfrm>
          <a:prstGeom prst="rect">
            <a:avLst/>
          </a:prstGeom>
          <a:noFill/>
          <a:ln/>
        </p:spPr>
        <p:txBody>
          <a:bodyPr wrap="square" rtlCol="0" anchor="ctr"/>
          <a:lstStyle/>
          <a:p>
            <a:pPr marL="0" indent="0">
              <a:buNone/>
            </a:pPr>
            <a:r>
              <a:rPr lang="en-US" sz="1500" b="1" dirty="0">
                <a:solidFill>
                  <a:srgbClr val="1F2B1A"/>
                </a:solidFill>
                <a:latin typeface="Calibri" pitchFamily="34" charset="0"/>
                <a:ea typeface="Calibri" pitchFamily="34" charset="-122"/>
                <a:cs typeface="Calibri" pitchFamily="34" charset="-120"/>
              </a:rPr>
              <a:t>Referred</a:t>
            </a:r>
            <a:endParaRPr lang="en-US" sz="1500" dirty="0"/>
          </a:p>
        </p:txBody>
      </p:sp>
      <p:sp>
        <p:nvSpPr>
          <p:cNvPr id="17" name="Text 15"/>
          <p:cNvSpPr/>
          <p:nvPr/>
        </p:nvSpPr>
        <p:spPr>
          <a:xfrm>
            <a:off x="4572000" y="4389120"/>
            <a:ext cx="3200400" cy="685800"/>
          </a:xfrm>
          <a:prstGeom prst="rect">
            <a:avLst/>
          </a:prstGeom>
          <a:noFill/>
          <a:ln/>
        </p:spPr>
        <p:txBody>
          <a:bodyPr wrap="square" rtlCol="0" anchor="ctr"/>
          <a:lstStyle/>
          <a:p>
            <a:pPr marL="0" indent="0" algn="r">
              <a:buNone/>
            </a:pPr>
            <a:r>
              <a:rPr lang="en-US" sz="1600" b="1" dirty="0">
                <a:solidFill>
                  <a:srgbClr val="2C5F2D"/>
                </a:solidFill>
                <a:latin typeface="Calibri" pitchFamily="34" charset="0"/>
                <a:ea typeface="Calibri" pitchFamily="34" charset="-122"/>
                <a:cs typeface="Calibri" pitchFamily="34" charset="-120"/>
              </a:rPr>
              <a:t>₦285.29K</a:t>
            </a:r>
            <a:endParaRPr lang="en-US" sz="1600" dirty="0"/>
          </a:p>
        </p:txBody>
      </p:sp>
      <p:sp>
        <p:nvSpPr>
          <p:cNvPr id="18" name="Shape 16"/>
          <p:cNvSpPr/>
          <p:nvPr/>
        </p:nvSpPr>
        <p:spPr>
          <a:xfrm>
            <a:off x="548640" y="5303520"/>
            <a:ext cx="7406640" cy="1508760"/>
          </a:xfrm>
          <a:prstGeom prst="roundRect">
            <a:avLst>
              <a:gd name="adj" fmla="val 6061"/>
            </a:avLst>
          </a:prstGeom>
          <a:solidFill>
            <a:srgbClr val="E9F2E4"/>
          </a:solidFill>
          <a:ln/>
        </p:spPr>
        <p:txBody>
          <a:bodyPr/>
          <a:lstStyle/>
          <a:p>
            <a:endParaRPr lang="en-US"/>
          </a:p>
        </p:txBody>
      </p:sp>
      <p:sp>
        <p:nvSpPr>
          <p:cNvPr id="19" name="Shape 17"/>
          <p:cNvSpPr/>
          <p:nvPr/>
        </p:nvSpPr>
        <p:spPr>
          <a:xfrm>
            <a:off x="548640" y="5303520"/>
            <a:ext cx="82296" cy="1508760"/>
          </a:xfrm>
          <a:prstGeom prst="rect">
            <a:avLst/>
          </a:prstGeom>
          <a:solidFill>
            <a:srgbClr val="2C5F2D"/>
          </a:solidFill>
          <a:ln/>
        </p:spPr>
        <p:txBody>
          <a:bodyPr/>
          <a:lstStyle/>
          <a:p>
            <a:endParaRPr lang="en-US"/>
          </a:p>
        </p:txBody>
      </p:sp>
      <p:sp>
        <p:nvSpPr>
          <p:cNvPr id="20" name="Text 18"/>
          <p:cNvSpPr/>
          <p:nvPr/>
        </p:nvSpPr>
        <p:spPr>
          <a:xfrm>
            <a:off x="868680" y="5440680"/>
            <a:ext cx="6903720" cy="1280160"/>
          </a:xfrm>
          <a:prstGeom prst="rect">
            <a:avLst/>
          </a:prstGeom>
          <a:noFill/>
          <a:ln/>
        </p:spPr>
        <p:txBody>
          <a:bodyPr wrap="square" rtlCol="0" anchor="t"/>
          <a:lstStyle/>
          <a:p>
            <a:pPr marL="0" indent="0">
              <a:lnSpc>
                <a:spcPct val="115000"/>
              </a:lnSpc>
              <a:buNone/>
            </a:pPr>
            <a:r>
              <a:rPr lang="en-US" sz="1200" i="1" dirty="0">
                <a:solidFill>
                  <a:srgbClr val="1F2B1A"/>
                </a:solidFill>
                <a:latin typeface="Calibri" pitchFamily="34" charset="0"/>
                <a:ea typeface="Calibri" pitchFamily="34" charset="-122"/>
                <a:cs typeface="Calibri" pitchFamily="34" charset="-120"/>
              </a:rPr>
              <a:t>“Higher treatment costs were not consistently associated with better patient outcomes. The deceased patient group recorded the highest average treatment cost, indicating that increased expenditure does not necessarily translate into improved patient outcomes.”</a:t>
            </a:r>
            <a:endParaRPr lang="en-US" sz="1200" dirty="0"/>
          </a:p>
        </p:txBody>
      </p:sp>
      <p:sp>
        <p:nvSpPr>
          <p:cNvPr id="21" name="Shape 19"/>
          <p:cNvSpPr/>
          <p:nvPr/>
        </p:nvSpPr>
        <p:spPr>
          <a:xfrm>
            <a:off x="8229600" y="1920240"/>
            <a:ext cx="3429000" cy="4251960"/>
          </a:xfrm>
          <a:prstGeom prst="roundRect">
            <a:avLst>
              <a:gd name="adj" fmla="val 3200"/>
            </a:avLst>
          </a:prstGeom>
          <a:solidFill>
            <a:srgbClr val="2C5F2D"/>
          </a:solidFill>
          <a:ln/>
        </p:spPr>
        <p:txBody>
          <a:bodyPr/>
          <a:lstStyle/>
          <a:p>
            <a:endParaRPr lang="en-US"/>
          </a:p>
        </p:txBody>
      </p:sp>
      <p:sp>
        <p:nvSpPr>
          <p:cNvPr id="22" name="Text 20"/>
          <p:cNvSpPr/>
          <p:nvPr/>
        </p:nvSpPr>
        <p:spPr>
          <a:xfrm>
            <a:off x="8458200" y="2103120"/>
            <a:ext cx="297180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Management question</a:t>
            </a:r>
            <a:endParaRPr lang="en-US" sz="1500" dirty="0"/>
          </a:p>
        </p:txBody>
      </p:sp>
      <p:sp>
        <p:nvSpPr>
          <p:cNvPr id="23" name="Text 21"/>
          <p:cNvSpPr/>
          <p:nvPr/>
        </p:nvSpPr>
        <p:spPr>
          <a:xfrm>
            <a:off x="8458200" y="2560320"/>
            <a:ext cx="2971800" cy="1828800"/>
          </a:xfrm>
          <a:prstGeom prst="rect">
            <a:avLst/>
          </a:prstGeom>
          <a:noFill/>
          <a:ln/>
        </p:spPr>
        <p:txBody>
          <a:bodyPr wrap="square"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Spend is being driven by case severity and </a:t>
            </a:r>
            <a:r>
              <a:rPr lang="en-US" sz="1200" dirty="0" err="1">
                <a:solidFill>
                  <a:srgbClr val="FFFFFF"/>
                </a:solidFill>
                <a:latin typeface="Calibri" pitchFamily="34" charset="0"/>
                <a:ea typeface="Calibri" pitchFamily="34" charset="-122"/>
                <a:cs typeface="Calibri" pitchFamily="34" charset="-120"/>
              </a:rPr>
              <a:t>complications,but</a:t>
            </a:r>
            <a:r>
              <a:rPr lang="en-US" sz="1200" dirty="0">
                <a:solidFill>
                  <a:srgbClr val="FFFFFF"/>
                </a:solidFill>
                <a:latin typeface="Calibri" pitchFamily="34" charset="0"/>
                <a:ea typeface="Calibri" pitchFamily="34" charset="-122"/>
                <a:cs typeface="Calibri" pitchFamily="34" charset="-120"/>
              </a:rPr>
              <a:t> is not translating into better survival or recovery. This raises a real question about treatment efficiency and resource utilization.</a:t>
            </a:r>
            <a:endParaRPr lang="en-US" sz="1200" dirty="0"/>
          </a:p>
        </p:txBody>
      </p:sp>
      <p:sp>
        <p:nvSpPr>
          <p:cNvPr id="24" name="Text 22"/>
          <p:cNvSpPr/>
          <p:nvPr/>
        </p:nvSpPr>
        <p:spPr>
          <a:xfrm>
            <a:off x="8458200" y="4709160"/>
            <a:ext cx="2971800" cy="1280160"/>
          </a:xfrm>
          <a:prstGeom prst="rect">
            <a:avLst/>
          </a:prstGeom>
          <a:noFill/>
          <a:ln/>
        </p:spPr>
        <p:txBody>
          <a:bodyPr wrap="square" rtlCol="0" anchor="t"/>
          <a:lstStyle/>
          <a:p>
            <a:pPr marL="0" indent="0">
              <a:buNone/>
            </a:pPr>
            <a:r>
              <a:rPr lang="en-US" sz="1200" i="1" dirty="0">
                <a:solidFill>
                  <a:srgbClr val="6FA766"/>
                </a:solidFill>
                <a:latin typeface="Calibri" pitchFamily="34" charset="0"/>
                <a:ea typeface="Calibri" pitchFamily="34" charset="-122"/>
                <a:cs typeface="Calibri" pitchFamily="34" charset="-120"/>
              </a:rPr>
              <a:t>Cost should be reviewed alongside clinical complexity — not treated as a proxy for quality of care.</a:t>
            </a:r>
            <a:endParaRPr lang="en-US" sz="1200" dirty="0"/>
          </a:p>
        </p:txBody>
      </p:sp>
      <p:sp>
        <p:nvSpPr>
          <p:cNvPr id="25" name="Text 2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54864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Key Findings</a:t>
            </a:r>
            <a:endParaRPr lang="en-US" sz="3200" dirty="0"/>
          </a:p>
        </p:txBody>
      </p:sp>
      <p:sp>
        <p:nvSpPr>
          <p:cNvPr id="4" name="Text 2"/>
          <p:cNvSpPr/>
          <p:nvPr/>
        </p:nvSpPr>
        <p:spPr>
          <a:xfrm>
            <a:off x="5486400" y="0"/>
            <a:ext cx="612648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7  —  High Cost, Poor Outcome Departments</a:t>
            </a:r>
            <a:endParaRPr lang="en-US" sz="1400" dirty="0"/>
          </a:p>
        </p:txBody>
      </p:sp>
      <p:sp>
        <p:nvSpPr>
          <p:cNvPr id="5" name="Text 3"/>
          <p:cNvSpPr/>
          <p:nvPr/>
        </p:nvSpPr>
        <p:spPr>
          <a:xfrm>
            <a:off x="548640" y="1234440"/>
            <a:ext cx="11064240" cy="594360"/>
          </a:xfrm>
          <a:prstGeom prst="rect">
            <a:avLst/>
          </a:prstGeom>
          <a:noFill/>
          <a:ln/>
        </p:spPr>
        <p:txBody>
          <a:bodyPr wrap="square" rtlCol="0" anchor="t"/>
          <a:lstStyle/>
          <a:p>
            <a:pPr marL="0" indent="0">
              <a:buNone/>
            </a:pPr>
            <a:r>
              <a:rPr lang="en-US" sz="1300" i="1" dirty="0">
                <a:solidFill>
                  <a:srgbClr val="1F2B1A"/>
                </a:solidFill>
                <a:latin typeface="Calibri" pitchFamily="34" charset="0"/>
                <a:ea typeface="Calibri" pitchFamily="34" charset="-122"/>
                <a:cs typeface="Calibri" pitchFamily="34" charset="-120"/>
              </a:rPr>
              <a:t>Outcomes were grouped as Good (Recovered + Improved) vs. Poor (Referred + Deceased). Filtering the dashboard to Poor Outcome patients only, and re-reading Treatment Cost by Department against that filter:</a:t>
            </a:r>
            <a:endParaRPr lang="en-US" sz="1300" dirty="0"/>
          </a:p>
        </p:txBody>
      </p:sp>
      <p:sp>
        <p:nvSpPr>
          <p:cNvPr id="6" name="Shape 4"/>
          <p:cNvSpPr/>
          <p:nvPr/>
        </p:nvSpPr>
        <p:spPr>
          <a:xfrm>
            <a:off x="548640" y="1874520"/>
            <a:ext cx="2743200" cy="457200"/>
          </a:xfrm>
          <a:prstGeom prst="roundRect">
            <a:avLst>
              <a:gd name="adj" fmla="val 50000"/>
            </a:avLst>
          </a:prstGeom>
          <a:solidFill>
            <a:srgbClr val="E9F2E4"/>
          </a:solidFill>
          <a:ln/>
        </p:spPr>
        <p:txBody>
          <a:bodyPr/>
          <a:lstStyle/>
          <a:p>
            <a:endParaRPr lang="en-US"/>
          </a:p>
        </p:txBody>
      </p:sp>
      <p:sp>
        <p:nvSpPr>
          <p:cNvPr id="7" name="Text 5"/>
          <p:cNvSpPr/>
          <p:nvPr/>
        </p:nvSpPr>
        <p:spPr>
          <a:xfrm>
            <a:off x="685800" y="1874520"/>
            <a:ext cx="2560320" cy="457200"/>
          </a:xfrm>
          <a:prstGeom prst="rect">
            <a:avLst/>
          </a:prstGeom>
          <a:noFill/>
          <a:ln/>
        </p:spPr>
        <p:txBody>
          <a:bodyPr wrap="square" rtlCol="0" anchor="ctr"/>
          <a:lstStyle/>
          <a:p>
            <a:pPr marL="0" indent="0">
              <a:buNone/>
            </a:pPr>
            <a:r>
              <a:rPr lang="en-US" sz="1100" b="1" dirty="0">
                <a:solidFill>
                  <a:srgbClr val="2C5F2D"/>
                </a:solidFill>
                <a:latin typeface="Calibri" pitchFamily="34" charset="0"/>
                <a:ea typeface="Calibri" pitchFamily="34" charset="-122"/>
                <a:cs typeface="Calibri" pitchFamily="34" charset="-120"/>
              </a:rPr>
              <a:t>🟢 Good: Recovered + Improved</a:t>
            </a:r>
            <a:endParaRPr lang="en-US" sz="1100" dirty="0"/>
          </a:p>
        </p:txBody>
      </p:sp>
      <p:sp>
        <p:nvSpPr>
          <p:cNvPr id="8" name="Shape 6"/>
          <p:cNvSpPr/>
          <p:nvPr/>
        </p:nvSpPr>
        <p:spPr>
          <a:xfrm>
            <a:off x="3429000" y="1874520"/>
            <a:ext cx="2651760" cy="457200"/>
          </a:xfrm>
          <a:prstGeom prst="roundRect">
            <a:avLst>
              <a:gd name="adj" fmla="val 50000"/>
            </a:avLst>
          </a:prstGeom>
          <a:solidFill>
            <a:srgbClr val="F7E3D6"/>
          </a:solidFill>
          <a:ln/>
        </p:spPr>
        <p:txBody>
          <a:bodyPr/>
          <a:lstStyle/>
          <a:p>
            <a:endParaRPr lang="en-US"/>
          </a:p>
        </p:txBody>
      </p:sp>
      <p:sp>
        <p:nvSpPr>
          <p:cNvPr id="9" name="Text 7"/>
          <p:cNvSpPr/>
          <p:nvPr/>
        </p:nvSpPr>
        <p:spPr>
          <a:xfrm>
            <a:off x="3566160" y="1874520"/>
            <a:ext cx="2468880" cy="457200"/>
          </a:xfrm>
          <a:prstGeom prst="rect">
            <a:avLst/>
          </a:prstGeom>
          <a:noFill/>
          <a:ln/>
        </p:spPr>
        <p:txBody>
          <a:bodyPr wrap="square" rtlCol="0" anchor="ctr"/>
          <a:lstStyle/>
          <a:p>
            <a:pPr marL="0" indent="0">
              <a:buNone/>
            </a:pPr>
            <a:r>
              <a:rPr lang="en-US" sz="1100" b="1" dirty="0">
                <a:solidFill>
                  <a:srgbClr val="A34A1D"/>
                </a:solidFill>
                <a:latin typeface="Calibri" pitchFamily="34" charset="0"/>
                <a:ea typeface="Calibri" pitchFamily="34" charset="-122"/>
                <a:cs typeface="Calibri" pitchFamily="34" charset="-120"/>
              </a:rPr>
              <a:t>🔴 Poor: Referred + Deceased</a:t>
            </a:r>
            <a:endParaRPr lang="en-US" sz="1100" dirty="0"/>
          </a:p>
        </p:txBody>
      </p:sp>
      <p:graphicFrame>
        <p:nvGraphicFramePr>
          <p:cNvPr id="10" name="Chart 0"/>
          <p:cNvGraphicFramePr/>
          <p:nvPr/>
        </p:nvGraphicFramePr>
        <p:xfrm>
          <a:off x="548640" y="2606040"/>
          <a:ext cx="594360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8"/>
          <p:cNvSpPr/>
          <p:nvPr/>
        </p:nvSpPr>
        <p:spPr>
          <a:xfrm>
            <a:off x="6766560" y="2606040"/>
            <a:ext cx="4846320" cy="3611880"/>
          </a:xfrm>
          <a:prstGeom prst="roundRect">
            <a:avLst>
              <a:gd name="adj" fmla="val 3038"/>
            </a:avLst>
          </a:prstGeom>
          <a:solidFill>
            <a:srgbClr val="1B3B1E"/>
          </a:solidFill>
          <a:ln/>
        </p:spPr>
        <p:txBody>
          <a:bodyPr/>
          <a:lstStyle/>
          <a:p>
            <a:endParaRPr lang="en-US"/>
          </a:p>
        </p:txBody>
      </p:sp>
      <p:sp>
        <p:nvSpPr>
          <p:cNvPr id="12" name="Text 9"/>
          <p:cNvSpPr/>
          <p:nvPr/>
        </p:nvSpPr>
        <p:spPr>
          <a:xfrm>
            <a:off x="7022592" y="2743200"/>
            <a:ext cx="4334256" cy="365760"/>
          </a:xfrm>
          <a:prstGeom prst="rect">
            <a:avLst/>
          </a:prstGeom>
          <a:noFill/>
          <a:ln/>
        </p:spPr>
        <p:txBody>
          <a:bodyPr wrap="square" rtlCol="0" anchor="ctr"/>
          <a:lstStyle/>
          <a:p>
            <a:pPr marL="0" indent="0">
              <a:buNone/>
            </a:pPr>
            <a:r>
              <a:rPr lang="en-US" sz="1500" b="1" dirty="0">
                <a:solidFill>
                  <a:srgbClr val="6FA766"/>
                </a:solidFill>
                <a:latin typeface="Cambria" pitchFamily="34" charset="0"/>
                <a:ea typeface="Cambria" pitchFamily="34" charset="-122"/>
                <a:cs typeface="Cambria" pitchFamily="34" charset="-120"/>
              </a:rPr>
              <a:t>Finding</a:t>
            </a:r>
            <a:endParaRPr lang="en-US" sz="1500" dirty="0"/>
          </a:p>
        </p:txBody>
      </p:sp>
      <p:sp>
        <p:nvSpPr>
          <p:cNvPr id="13" name="Text 10"/>
          <p:cNvSpPr/>
          <p:nvPr/>
        </p:nvSpPr>
        <p:spPr>
          <a:xfrm>
            <a:off x="7022592" y="3154680"/>
            <a:ext cx="4334256" cy="1051560"/>
          </a:xfrm>
          <a:prstGeom prst="rect">
            <a:avLst/>
          </a:prstGeom>
          <a:noFill/>
          <a:ln/>
        </p:spPr>
        <p:txBody>
          <a:bodyPr wrap="square"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Surgery, Oncology and Orthopedics are the key high-cost departments among poor-outcome patients — Surgery (₦6M), Oncology (₦4M) and Orthopedics (₦4M).</a:t>
            </a:r>
            <a:endParaRPr lang="en-US" sz="1200" dirty="0"/>
          </a:p>
        </p:txBody>
      </p:sp>
      <p:sp>
        <p:nvSpPr>
          <p:cNvPr id="14" name="Text 11"/>
          <p:cNvSpPr/>
          <p:nvPr/>
        </p:nvSpPr>
        <p:spPr>
          <a:xfrm>
            <a:off x="7022592" y="4251960"/>
            <a:ext cx="4334256" cy="365760"/>
          </a:xfrm>
          <a:prstGeom prst="rect">
            <a:avLst/>
          </a:prstGeom>
          <a:noFill/>
          <a:ln/>
        </p:spPr>
        <p:txBody>
          <a:bodyPr wrap="square" rtlCol="0" anchor="ctr"/>
          <a:lstStyle/>
          <a:p>
            <a:pPr marL="0" indent="0">
              <a:buNone/>
            </a:pPr>
            <a:r>
              <a:rPr lang="en-US" sz="1350" b="1" dirty="0">
                <a:solidFill>
                  <a:srgbClr val="6FA766"/>
                </a:solidFill>
                <a:latin typeface="Cambria" pitchFamily="34" charset="0"/>
                <a:ea typeface="Cambria" pitchFamily="34" charset="-122"/>
                <a:cs typeface="Cambria" pitchFamily="34" charset="-120"/>
              </a:rPr>
              <a:t>Management implication</a:t>
            </a:r>
            <a:endParaRPr lang="en-US" sz="1350" dirty="0"/>
          </a:p>
        </p:txBody>
      </p:sp>
      <p:sp>
        <p:nvSpPr>
          <p:cNvPr id="15" name="Text 12"/>
          <p:cNvSpPr/>
          <p:nvPr/>
        </p:nvSpPr>
        <p:spPr>
          <a:xfrm>
            <a:off x="7022592" y="4617720"/>
            <a:ext cx="4334256" cy="1463040"/>
          </a:xfrm>
          <a:prstGeom prst="rect">
            <a:avLst/>
          </a:prstGeom>
          <a:noFill/>
          <a:ln/>
        </p:spPr>
        <p:txBody>
          <a:bodyPr wrap="square"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These departments should be prioritized for clinical outcome review and cost-efficiency analysis to determine why relatively high expenditure is still associated with poor patient outcomes.</a:t>
            </a:r>
            <a:endParaRPr lang="en-US" sz="1200" dirty="0"/>
          </a:p>
        </p:txBody>
      </p:sp>
      <p:sp>
        <p:nvSpPr>
          <p:cNvPr id="16" name="Text 13"/>
          <p:cNvSpPr/>
          <p:nvPr/>
        </p:nvSpPr>
        <p:spPr>
          <a:xfrm>
            <a:off x="548640" y="6355080"/>
            <a:ext cx="11064240" cy="457200"/>
          </a:xfrm>
          <a:prstGeom prst="rect">
            <a:avLst/>
          </a:prstGeom>
          <a:noFill/>
          <a:ln/>
        </p:spPr>
        <p:txBody>
          <a:bodyPr wrap="square" rtlCol="0" anchor="t"/>
          <a:lstStyle/>
          <a:p>
            <a:pPr marL="0" indent="0">
              <a:buNone/>
            </a:pPr>
            <a:r>
              <a:rPr lang="en-US" sz="1150" i="1" dirty="0">
                <a:solidFill>
                  <a:srgbClr val="55655A"/>
                </a:solidFill>
                <a:latin typeface="Calibri" pitchFamily="34" charset="0"/>
                <a:ea typeface="Calibri" pitchFamily="34" charset="-122"/>
                <a:cs typeface="Calibri" pitchFamily="34" charset="-120"/>
              </a:rPr>
              <a:t>Recommendation: conduct department-level reviews of treatment protocols, length of stay, resource utilization, and discharge planning in Surgery, Oncology, and Orthopedics — with priority given to Surgery due to its highest poor-outcome treatment cost.</a:t>
            </a:r>
            <a:endParaRPr lang="en-US" sz="1150" dirty="0"/>
          </a:p>
        </p:txBody>
      </p:sp>
      <p:sp>
        <p:nvSpPr>
          <p:cNvPr id="17" name="Text 1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73152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Priority Areas</a:t>
            </a:r>
            <a:endParaRPr lang="en-US" sz="3200" dirty="0"/>
          </a:p>
        </p:txBody>
      </p:sp>
      <p:sp>
        <p:nvSpPr>
          <p:cNvPr id="4" name="Text 2"/>
          <p:cNvSpPr/>
          <p:nvPr/>
        </p:nvSpPr>
        <p:spPr>
          <a:xfrm>
            <a:off x="548640" y="1325880"/>
            <a:ext cx="5394960" cy="411480"/>
          </a:xfrm>
          <a:prstGeom prst="rect">
            <a:avLst/>
          </a:prstGeom>
          <a:noFill/>
          <a:ln/>
        </p:spPr>
        <p:txBody>
          <a:bodyPr wrap="square" rtlCol="0" anchor="ctr"/>
          <a:lstStyle/>
          <a:p>
            <a:pPr marL="0" indent="0">
              <a:buNone/>
            </a:pPr>
            <a:r>
              <a:rPr lang="en-US" sz="1700" b="1" dirty="0">
                <a:solidFill>
                  <a:srgbClr val="2C5F2D"/>
                </a:solidFill>
                <a:latin typeface="Cambria" pitchFamily="34" charset="0"/>
                <a:ea typeface="Cambria" pitchFamily="34" charset="-122"/>
                <a:cs typeface="Cambria" pitchFamily="34" charset="-120"/>
              </a:rPr>
              <a:t>Departments Needing Improvement</a:t>
            </a:r>
            <a:endParaRPr lang="en-US" sz="1700" dirty="0"/>
          </a:p>
        </p:txBody>
      </p:sp>
      <p:sp>
        <p:nvSpPr>
          <p:cNvPr id="5" name="Shape 3"/>
          <p:cNvSpPr/>
          <p:nvPr/>
        </p:nvSpPr>
        <p:spPr>
          <a:xfrm>
            <a:off x="548640" y="1828800"/>
            <a:ext cx="5394960" cy="4343400"/>
          </a:xfrm>
          <a:prstGeom prst="roundRect">
            <a:avLst>
              <a:gd name="adj" fmla="val 2105"/>
            </a:avLst>
          </a:prstGeom>
          <a:solidFill>
            <a:srgbClr val="E9F2E4"/>
          </a:solidFill>
          <a:ln/>
        </p:spPr>
        <p:txBody>
          <a:bodyPr/>
          <a:lstStyle/>
          <a:p>
            <a:endParaRPr lang="en-US"/>
          </a:p>
        </p:txBody>
      </p:sp>
      <p:sp>
        <p:nvSpPr>
          <p:cNvPr id="6" name="Shape 4"/>
          <p:cNvSpPr/>
          <p:nvPr/>
        </p:nvSpPr>
        <p:spPr>
          <a:xfrm>
            <a:off x="822960" y="2057400"/>
            <a:ext cx="457200" cy="457200"/>
          </a:xfrm>
          <a:prstGeom prst="roundRect">
            <a:avLst>
              <a:gd name="adj" fmla="val 50000"/>
            </a:avLst>
          </a:prstGeom>
          <a:solidFill>
            <a:srgbClr val="2C5F2D"/>
          </a:solidFill>
          <a:ln/>
        </p:spPr>
        <p:txBody>
          <a:bodyPr/>
          <a:lstStyle/>
          <a:p>
            <a:endParaRPr lang="en-US"/>
          </a:p>
        </p:txBody>
      </p:sp>
      <p:sp>
        <p:nvSpPr>
          <p:cNvPr id="7" name="Text 5"/>
          <p:cNvSpPr/>
          <p:nvPr/>
        </p:nvSpPr>
        <p:spPr>
          <a:xfrm>
            <a:off x="822960" y="205740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463040" y="2011680"/>
            <a:ext cx="4251960" cy="365760"/>
          </a:xfrm>
          <a:prstGeom prst="rect">
            <a:avLst/>
          </a:prstGeom>
          <a:noFill/>
          <a:ln/>
        </p:spPr>
        <p:txBody>
          <a:bodyPr wrap="square" rtlCol="0" anchor="ctr"/>
          <a:lstStyle/>
          <a:p>
            <a:pPr marL="0" indent="0">
              <a:buNone/>
            </a:pPr>
            <a:r>
              <a:rPr lang="en-US" sz="1400" b="1" dirty="0">
                <a:solidFill>
                  <a:srgbClr val="1F2B1A"/>
                </a:solidFill>
                <a:latin typeface="Calibri" pitchFamily="34" charset="0"/>
                <a:ea typeface="Calibri" pitchFamily="34" charset="-122"/>
                <a:cs typeface="Calibri" pitchFamily="34" charset="-120"/>
              </a:rPr>
              <a:t>Cardiology</a:t>
            </a:r>
            <a:endParaRPr lang="en-US" sz="1400" dirty="0"/>
          </a:p>
        </p:txBody>
      </p:sp>
      <p:sp>
        <p:nvSpPr>
          <p:cNvPr id="9" name="Text 7"/>
          <p:cNvSpPr/>
          <p:nvPr/>
        </p:nvSpPr>
        <p:spPr>
          <a:xfrm>
            <a:off x="1463040" y="2350008"/>
            <a:ext cx="4251960" cy="502920"/>
          </a:xfrm>
          <a:prstGeom prst="rect">
            <a:avLst/>
          </a:prstGeom>
          <a:noFill/>
          <a:ln/>
        </p:spPr>
        <p:txBody>
          <a:bodyPr wrap="square" rtlCol="0" anchor="t"/>
          <a:lstStyle/>
          <a:p>
            <a:pPr marL="0" indent="0">
              <a:buNone/>
            </a:pPr>
            <a:r>
              <a:rPr lang="en-US" sz="1100" dirty="0">
                <a:solidFill>
                  <a:srgbClr val="55655A"/>
                </a:solidFill>
                <a:latin typeface="Calibri" pitchFamily="34" charset="0"/>
                <a:ea typeface="Calibri" pitchFamily="34" charset="-122"/>
                <a:cs typeface="Calibri" pitchFamily="34" charset="-120"/>
              </a:rPr>
              <a:t>Highest overall readmission rate (~28%)</a:t>
            </a:r>
            <a:endParaRPr lang="en-US" sz="1100" dirty="0"/>
          </a:p>
        </p:txBody>
      </p:sp>
      <p:sp>
        <p:nvSpPr>
          <p:cNvPr id="10" name="Shape 8"/>
          <p:cNvSpPr/>
          <p:nvPr/>
        </p:nvSpPr>
        <p:spPr>
          <a:xfrm>
            <a:off x="822960" y="3090672"/>
            <a:ext cx="457200" cy="457200"/>
          </a:xfrm>
          <a:prstGeom prst="roundRect">
            <a:avLst>
              <a:gd name="adj" fmla="val 50000"/>
            </a:avLst>
          </a:prstGeom>
          <a:solidFill>
            <a:srgbClr val="2C5F2D"/>
          </a:solidFill>
          <a:ln/>
        </p:spPr>
        <p:txBody>
          <a:bodyPr/>
          <a:lstStyle/>
          <a:p>
            <a:endParaRPr lang="en-US"/>
          </a:p>
        </p:txBody>
      </p:sp>
      <p:sp>
        <p:nvSpPr>
          <p:cNvPr id="11" name="Text 9"/>
          <p:cNvSpPr/>
          <p:nvPr/>
        </p:nvSpPr>
        <p:spPr>
          <a:xfrm>
            <a:off x="822960" y="309067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463040" y="3044952"/>
            <a:ext cx="4251960" cy="365760"/>
          </a:xfrm>
          <a:prstGeom prst="rect">
            <a:avLst/>
          </a:prstGeom>
          <a:noFill/>
          <a:ln/>
        </p:spPr>
        <p:txBody>
          <a:bodyPr wrap="square" rtlCol="0" anchor="ctr"/>
          <a:lstStyle/>
          <a:p>
            <a:pPr marL="0" indent="0">
              <a:buNone/>
            </a:pPr>
            <a:r>
              <a:rPr lang="en-US" sz="1400" b="1" dirty="0">
                <a:solidFill>
                  <a:srgbClr val="1F2B1A"/>
                </a:solidFill>
                <a:latin typeface="Calibri" pitchFamily="34" charset="0"/>
                <a:ea typeface="Calibri" pitchFamily="34" charset="-122"/>
                <a:cs typeface="Calibri" pitchFamily="34" charset="-120"/>
              </a:rPr>
              <a:t>Oncology</a:t>
            </a:r>
            <a:endParaRPr lang="en-US" sz="1400" dirty="0"/>
          </a:p>
        </p:txBody>
      </p:sp>
      <p:sp>
        <p:nvSpPr>
          <p:cNvPr id="13" name="Text 11"/>
          <p:cNvSpPr/>
          <p:nvPr/>
        </p:nvSpPr>
        <p:spPr>
          <a:xfrm>
            <a:off x="1463040" y="3383280"/>
            <a:ext cx="4251960" cy="502920"/>
          </a:xfrm>
          <a:prstGeom prst="rect">
            <a:avLst/>
          </a:prstGeom>
          <a:noFill/>
          <a:ln/>
        </p:spPr>
        <p:txBody>
          <a:bodyPr wrap="square" rtlCol="0" anchor="t"/>
          <a:lstStyle/>
          <a:p>
            <a:pPr marL="0" indent="0">
              <a:buNone/>
            </a:pPr>
            <a:r>
              <a:rPr lang="en-US" sz="1100" dirty="0">
                <a:solidFill>
                  <a:srgbClr val="55655A"/>
                </a:solidFill>
                <a:latin typeface="Calibri" pitchFamily="34" charset="0"/>
                <a:ea typeface="Calibri" pitchFamily="34" charset="-122"/>
                <a:cs typeface="Calibri" pitchFamily="34" charset="-120"/>
              </a:rPr>
              <a:t>High readmission (~25%) and high cost among poor-outcome patients (₦4M)</a:t>
            </a:r>
            <a:endParaRPr lang="en-US" sz="1100" dirty="0"/>
          </a:p>
        </p:txBody>
      </p:sp>
      <p:sp>
        <p:nvSpPr>
          <p:cNvPr id="14" name="Shape 12"/>
          <p:cNvSpPr/>
          <p:nvPr/>
        </p:nvSpPr>
        <p:spPr>
          <a:xfrm>
            <a:off x="822960" y="4123944"/>
            <a:ext cx="457200" cy="457200"/>
          </a:xfrm>
          <a:prstGeom prst="roundRect">
            <a:avLst>
              <a:gd name="adj" fmla="val 50000"/>
            </a:avLst>
          </a:prstGeom>
          <a:solidFill>
            <a:srgbClr val="2C5F2D"/>
          </a:solidFill>
          <a:ln/>
        </p:spPr>
        <p:txBody>
          <a:bodyPr/>
          <a:lstStyle/>
          <a:p>
            <a:endParaRPr lang="en-US"/>
          </a:p>
        </p:txBody>
      </p:sp>
      <p:sp>
        <p:nvSpPr>
          <p:cNvPr id="15" name="Text 13"/>
          <p:cNvSpPr/>
          <p:nvPr/>
        </p:nvSpPr>
        <p:spPr>
          <a:xfrm>
            <a:off x="822960" y="4123944"/>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463040" y="4078224"/>
            <a:ext cx="4251960" cy="365760"/>
          </a:xfrm>
          <a:prstGeom prst="rect">
            <a:avLst/>
          </a:prstGeom>
          <a:noFill/>
          <a:ln/>
        </p:spPr>
        <p:txBody>
          <a:bodyPr wrap="square" rtlCol="0" anchor="ctr"/>
          <a:lstStyle/>
          <a:p>
            <a:pPr marL="0" indent="0">
              <a:buNone/>
            </a:pPr>
            <a:r>
              <a:rPr lang="en-US" sz="1400" b="1" dirty="0">
                <a:solidFill>
                  <a:srgbClr val="1F2B1A"/>
                </a:solidFill>
                <a:latin typeface="Calibri" pitchFamily="34" charset="0"/>
                <a:ea typeface="Calibri" pitchFamily="34" charset="-122"/>
                <a:cs typeface="Calibri" pitchFamily="34" charset="-120"/>
              </a:rPr>
              <a:t>Surgery</a:t>
            </a:r>
            <a:endParaRPr lang="en-US" sz="1400" dirty="0"/>
          </a:p>
        </p:txBody>
      </p:sp>
      <p:sp>
        <p:nvSpPr>
          <p:cNvPr id="17" name="Text 15"/>
          <p:cNvSpPr/>
          <p:nvPr/>
        </p:nvSpPr>
        <p:spPr>
          <a:xfrm>
            <a:off x="1463040" y="4416552"/>
            <a:ext cx="4251960" cy="502920"/>
          </a:xfrm>
          <a:prstGeom prst="rect">
            <a:avLst/>
          </a:prstGeom>
          <a:noFill/>
          <a:ln/>
        </p:spPr>
        <p:txBody>
          <a:bodyPr wrap="square" rtlCol="0" anchor="t"/>
          <a:lstStyle/>
          <a:p>
            <a:pPr marL="0" indent="0">
              <a:buNone/>
            </a:pPr>
            <a:r>
              <a:rPr lang="en-US" sz="1100" dirty="0">
                <a:solidFill>
                  <a:srgbClr val="55655A"/>
                </a:solidFill>
                <a:latin typeface="Calibri" pitchFamily="34" charset="0"/>
                <a:ea typeface="Calibri" pitchFamily="34" charset="-122"/>
                <a:cs typeface="Calibri" pitchFamily="34" charset="-120"/>
              </a:rPr>
              <a:t>Highest treatment cost among poor-outcome patients (₦6M)</a:t>
            </a:r>
            <a:endParaRPr lang="en-US" sz="1100" dirty="0"/>
          </a:p>
        </p:txBody>
      </p:sp>
      <p:sp>
        <p:nvSpPr>
          <p:cNvPr id="18" name="Shape 16"/>
          <p:cNvSpPr/>
          <p:nvPr/>
        </p:nvSpPr>
        <p:spPr>
          <a:xfrm>
            <a:off x="822960" y="5157216"/>
            <a:ext cx="457200" cy="457200"/>
          </a:xfrm>
          <a:prstGeom prst="roundRect">
            <a:avLst>
              <a:gd name="adj" fmla="val 50000"/>
            </a:avLst>
          </a:prstGeom>
          <a:solidFill>
            <a:srgbClr val="2C5F2D"/>
          </a:solidFill>
          <a:ln/>
        </p:spPr>
        <p:txBody>
          <a:bodyPr/>
          <a:lstStyle/>
          <a:p>
            <a:endParaRPr lang="en-US"/>
          </a:p>
        </p:txBody>
      </p:sp>
      <p:sp>
        <p:nvSpPr>
          <p:cNvPr id="19" name="Text 17"/>
          <p:cNvSpPr/>
          <p:nvPr/>
        </p:nvSpPr>
        <p:spPr>
          <a:xfrm>
            <a:off x="822960" y="5157216"/>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0" name="Text 18"/>
          <p:cNvSpPr/>
          <p:nvPr/>
        </p:nvSpPr>
        <p:spPr>
          <a:xfrm>
            <a:off x="1463040" y="5111496"/>
            <a:ext cx="4251960" cy="365760"/>
          </a:xfrm>
          <a:prstGeom prst="rect">
            <a:avLst/>
          </a:prstGeom>
          <a:noFill/>
          <a:ln/>
        </p:spPr>
        <p:txBody>
          <a:bodyPr wrap="square" rtlCol="0" anchor="ctr"/>
          <a:lstStyle/>
          <a:p>
            <a:pPr marL="0" indent="0">
              <a:buNone/>
            </a:pPr>
            <a:r>
              <a:rPr lang="en-US" sz="1400" b="1" dirty="0">
                <a:solidFill>
                  <a:srgbClr val="1F2B1A"/>
                </a:solidFill>
                <a:latin typeface="Calibri" pitchFamily="34" charset="0"/>
                <a:ea typeface="Calibri" pitchFamily="34" charset="-122"/>
                <a:cs typeface="Calibri" pitchFamily="34" charset="-120"/>
              </a:rPr>
              <a:t>Orthopedics</a:t>
            </a:r>
            <a:endParaRPr lang="en-US" sz="1400" dirty="0"/>
          </a:p>
        </p:txBody>
      </p:sp>
      <p:sp>
        <p:nvSpPr>
          <p:cNvPr id="21" name="Text 19"/>
          <p:cNvSpPr/>
          <p:nvPr/>
        </p:nvSpPr>
        <p:spPr>
          <a:xfrm>
            <a:off x="1463040" y="5449824"/>
            <a:ext cx="4251960" cy="502920"/>
          </a:xfrm>
          <a:prstGeom prst="rect">
            <a:avLst/>
          </a:prstGeom>
          <a:noFill/>
          <a:ln/>
        </p:spPr>
        <p:txBody>
          <a:bodyPr wrap="square" rtlCol="0" anchor="t"/>
          <a:lstStyle/>
          <a:p>
            <a:pPr marL="0" indent="0">
              <a:buNone/>
            </a:pPr>
            <a:r>
              <a:rPr lang="en-US" sz="1100" dirty="0">
                <a:solidFill>
                  <a:srgbClr val="55655A"/>
                </a:solidFill>
                <a:latin typeface="Calibri" pitchFamily="34" charset="0"/>
                <a:ea typeface="Calibri" pitchFamily="34" charset="-122"/>
                <a:cs typeface="Calibri" pitchFamily="34" charset="-120"/>
              </a:rPr>
              <a:t>High cost among poor-outcome patients (₦4M)</a:t>
            </a:r>
            <a:endParaRPr lang="en-US" sz="1100" dirty="0"/>
          </a:p>
        </p:txBody>
      </p:sp>
      <p:sp>
        <p:nvSpPr>
          <p:cNvPr id="22" name="Text 20"/>
          <p:cNvSpPr/>
          <p:nvPr/>
        </p:nvSpPr>
        <p:spPr>
          <a:xfrm>
            <a:off x="6263640" y="1325880"/>
            <a:ext cx="5394960" cy="411480"/>
          </a:xfrm>
          <a:prstGeom prst="rect">
            <a:avLst/>
          </a:prstGeom>
          <a:noFill/>
          <a:ln/>
        </p:spPr>
        <p:txBody>
          <a:bodyPr wrap="square" rtlCol="0" anchor="ctr"/>
          <a:lstStyle/>
          <a:p>
            <a:pPr marL="0" indent="0">
              <a:buNone/>
            </a:pPr>
            <a:r>
              <a:rPr lang="en-US" sz="1700" b="1" dirty="0">
                <a:solidFill>
                  <a:srgbClr val="2C5F2D"/>
                </a:solidFill>
                <a:latin typeface="Cambria" pitchFamily="34" charset="0"/>
                <a:ea typeface="Cambria" pitchFamily="34" charset="-122"/>
                <a:cs typeface="Cambria" pitchFamily="34" charset="-120"/>
              </a:rPr>
              <a:t>Patient Groups Requiring Follow-Up</a:t>
            </a:r>
            <a:endParaRPr lang="en-US" sz="1700" dirty="0"/>
          </a:p>
        </p:txBody>
      </p:sp>
      <p:sp>
        <p:nvSpPr>
          <p:cNvPr id="23" name="Shape 21"/>
          <p:cNvSpPr/>
          <p:nvPr/>
        </p:nvSpPr>
        <p:spPr>
          <a:xfrm>
            <a:off x="6263640" y="1828800"/>
            <a:ext cx="5394960" cy="4343400"/>
          </a:xfrm>
          <a:prstGeom prst="roundRect">
            <a:avLst>
              <a:gd name="adj" fmla="val 2105"/>
            </a:avLst>
          </a:prstGeom>
          <a:solidFill>
            <a:srgbClr val="1B3B1E"/>
          </a:solidFill>
          <a:ln/>
        </p:spPr>
        <p:txBody>
          <a:bodyPr/>
          <a:lstStyle/>
          <a:p>
            <a:endParaRPr lang="en-US"/>
          </a:p>
        </p:txBody>
      </p:sp>
      <p:sp>
        <p:nvSpPr>
          <p:cNvPr id="24" name="Shape 22"/>
          <p:cNvSpPr/>
          <p:nvPr/>
        </p:nvSpPr>
        <p:spPr>
          <a:xfrm>
            <a:off x="6537960" y="2112264"/>
            <a:ext cx="146304" cy="146304"/>
          </a:xfrm>
          <a:prstGeom prst="ellipse">
            <a:avLst/>
          </a:prstGeom>
          <a:solidFill>
            <a:srgbClr val="6FA766"/>
          </a:solidFill>
          <a:ln/>
        </p:spPr>
        <p:txBody>
          <a:bodyPr/>
          <a:lstStyle/>
          <a:p>
            <a:endParaRPr lang="en-US"/>
          </a:p>
        </p:txBody>
      </p:sp>
      <p:sp>
        <p:nvSpPr>
          <p:cNvPr id="25" name="Text 23"/>
          <p:cNvSpPr/>
          <p:nvPr/>
        </p:nvSpPr>
        <p:spPr>
          <a:xfrm>
            <a:off x="6858000" y="1984248"/>
            <a:ext cx="45262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Patients aged 61+</a:t>
            </a:r>
            <a:endParaRPr lang="en-US" sz="1400" dirty="0"/>
          </a:p>
        </p:txBody>
      </p:sp>
      <p:sp>
        <p:nvSpPr>
          <p:cNvPr id="26" name="Text 24"/>
          <p:cNvSpPr/>
          <p:nvPr/>
        </p:nvSpPr>
        <p:spPr>
          <a:xfrm>
            <a:off x="6858000" y="2331720"/>
            <a:ext cx="4526280" cy="502920"/>
          </a:xfrm>
          <a:prstGeom prst="rect">
            <a:avLst/>
          </a:prstGeom>
          <a:noFill/>
          <a:ln/>
        </p:spPr>
        <p:txBody>
          <a:bodyPr wrap="square" rtlCol="0" anchor="t"/>
          <a:lstStyle/>
          <a:p>
            <a:pPr marL="0" indent="0">
              <a:buNone/>
            </a:pPr>
            <a:r>
              <a:rPr lang="en-US" sz="1150" dirty="0">
                <a:solidFill>
                  <a:srgbClr val="6FA766"/>
                </a:solidFill>
                <a:latin typeface="Calibri" pitchFamily="34" charset="0"/>
                <a:ea typeface="Calibri" pitchFamily="34" charset="-122"/>
                <a:cs typeface="Calibri" pitchFamily="34" charset="-120"/>
              </a:rPr>
              <a:t>Primary follow-up target — 38% readmission rate</a:t>
            </a:r>
            <a:endParaRPr lang="en-US" sz="1150" dirty="0"/>
          </a:p>
        </p:txBody>
      </p:sp>
      <p:sp>
        <p:nvSpPr>
          <p:cNvPr id="27" name="Shape 25"/>
          <p:cNvSpPr/>
          <p:nvPr/>
        </p:nvSpPr>
        <p:spPr>
          <a:xfrm>
            <a:off x="6537960" y="3145536"/>
            <a:ext cx="146304" cy="146304"/>
          </a:xfrm>
          <a:prstGeom prst="ellipse">
            <a:avLst/>
          </a:prstGeom>
          <a:solidFill>
            <a:srgbClr val="6FA766"/>
          </a:solidFill>
          <a:ln/>
        </p:spPr>
        <p:txBody>
          <a:bodyPr/>
          <a:lstStyle/>
          <a:p>
            <a:endParaRPr lang="en-US"/>
          </a:p>
        </p:txBody>
      </p:sp>
      <p:sp>
        <p:nvSpPr>
          <p:cNvPr id="28" name="Text 26"/>
          <p:cNvSpPr/>
          <p:nvPr/>
        </p:nvSpPr>
        <p:spPr>
          <a:xfrm>
            <a:off x="6858000" y="3017520"/>
            <a:ext cx="45262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Diabetes patients</a:t>
            </a:r>
            <a:endParaRPr lang="en-US" sz="1400" dirty="0"/>
          </a:p>
        </p:txBody>
      </p:sp>
      <p:sp>
        <p:nvSpPr>
          <p:cNvPr id="29" name="Text 27"/>
          <p:cNvSpPr/>
          <p:nvPr/>
        </p:nvSpPr>
        <p:spPr>
          <a:xfrm>
            <a:off x="6858000" y="3364992"/>
            <a:ext cx="4526280" cy="502920"/>
          </a:xfrm>
          <a:prstGeom prst="rect">
            <a:avLst/>
          </a:prstGeom>
          <a:noFill/>
          <a:ln/>
        </p:spPr>
        <p:txBody>
          <a:bodyPr wrap="square" rtlCol="0" anchor="t"/>
          <a:lstStyle/>
          <a:p>
            <a:pPr marL="0" indent="0">
              <a:buNone/>
            </a:pPr>
            <a:r>
              <a:rPr lang="en-US" sz="1150" dirty="0">
                <a:solidFill>
                  <a:srgbClr val="6FA766"/>
                </a:solidFill>
                <a:latin typeface="Calibri" pitchFamily="34" charset="0"/>
                <a:ea typeface="Calibri" pitchFamily="34" charset="-122"/>
                <a:cs typeface="Calibri" pitchFamily="34" charset="-120"/>
              </a:rPr>
              <a:t>Chronic condition requiring structured monitoring</a:t>
            </a:r>
            <a:endParaRPr lang="en-US" sz="1150" dirty="0"/>
          </a:p>
        </p:txBody>
      </p:sp>
      <p:sp>
        <p:nvSpPr>
          <p:cNvPr id="30" name="Shape 28"/>
          <p:cNvSpPr/>
          <p:nvPr/>
        </p:nvSpPr>
        <p:spPr>
          <a:xfrm>
            <a:off x="6537960" y="4178808"/>
            <a:ext cx="146304" cy="146304"/>
          </a:xfrm>
          <a:prstGeom prst="ellipse">
            <a:avLst/>
          </a:prstGeom>
          <a:solidFill>
            <a:srgbClr val="6FA766"/>
          </a:solidFill>
          <a:ln/>
        </p:spPr>
        <p:txBody>
          <a:bodyPr/>
          <a:lstStyle/>
          <a:p>
            <a:endParaRPr lang="en-US"/>
          </a:p>
        </p:txBody>
      </p:sp>
      <p:sp>
        <p:nvSpPr>
          <p:cNvPr id="31" name="Text 29"/>
          <p:cNvSpPr/>
          <p:nvPr/>
        </p:nvSpPr>
        <p:spPr>
          <a:xfrm>
            <a:off x="6858000" y="4050792"/>
            <a:ext cx="45262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Kidney Disease patients</a:t>
            </a:r>
            <a:endParaRPr lang="en-US" sz="1400" dirty="0"/>
          </a:p>
        </p:txBody>
      </p:sp>
      <p:sp>
        <p:nvSpPr>
          <p:cNvPr id="32" name="Text 30"/>
          <p:cNvSpPr/>
          <p:nvPr/>
        </p:nvSpPr>
        <p:spPr>
          <a:xfrm>
            <a:off x="6858000" y="4398264"/>
            <a:ext cx="4526280" cy="502920"/>
          </a:xfrm>
          <a:prstGeom prst="rect">
            <a:avLst/>
          </a:prstGeom>
          <a:noFill/>
          <a:ln/>
        </p:spPr>
        <p:txBody>
          <a:bodyPr wrap="square" rtlCol="0" anchor="t"/>
          <a:lstStyle/>
          <a:p>
            <a:pPr marL="0" indent="0">
              <a:buNone/>
            </a:pPr>
            <a:r>
              <a:rPr lang="en-US" sz="1150" dirty="0">
                <a:solidFill>
                  <a:srgbClr val="6FA766"/>
                </a:solidFill>
                <a:latin typeface="Calibri" pitchFamily="34" charset="0"/>
                <a:ea typeface="Calibri" pitchFamily="34" charset="-122"/>
                <a:cs typeface="Calibri" pitchFamily="34" charset="-120"/>
              </a:rPr>
              <a:t>Chronic condition requiring structured monitoring</a:t>
            </a:r>
            <a:endParaRPr lang="en-US" sz="1150" dirty="0"/>
          </a:p>
        </p:txBody>
      </p:sp>
      <p:sp>
        <p:nvSpPr>
          <p:cNvPr id="33" name="Shape 31"/>
          <p:cNvSpPr/>
          <p:nvPr/>
        </p:nvSpPr>
        <p:spPr>
          <a:xfrm>
            <a:off x="6537960" y="5212080"/>
            <a:ext cx="146304" cy="146304"/>
          </a:xfrm>
          <a:prstGeom prst="ellipse">
            <a:avLst/>
          </a:prstGeom>
          <a:solidFill>
            <a:srgbClr val="6FA766"/>
          </a:solidFill>
          <a:ln/>
        </p:spPr>
        <p:txBody>
          <a:bodyPr/>
          <a:lstStyle/>
          <a:p>
            <a:endParaRPr lang="en-US"/>
          </a:p>
        </p:txBody>
      </p:sp>
      <p:sp>
        <p:nvSpPr>
          <p:cNvPr id="34" name="Text 32"/>
          <p:cNvSpPr/>
          <p:nvPr/>
        </p:nvSpPr>
        <p:spPr>
          <a:xfrm>
            <a:off x="6858000" y="5084064"/>
            <a:ext cx="45262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Malaria patients</a:t>
            </a:r>
            <a:endParaRPr lang="en-US" sz="1400" dirty="0"/>
          </a:p>
        </p:txBody>
      </p:sp>
      <p:sp>
        <p:nvSpPr>
          <p:cNvPr id="35" name="Text 33"/>
          <p:cNvSpPr/>
          <p:nvPr/>
        </p:nvSpPr>
        <p:spPr>
          <a:xfrm>
            <a:off x="6858000" y="5431536"/>
            <a:ext cx="4526280" cy="502920"/>
          </a:xfrm>
          <a:prstGeom prst="rect">
            <a:avLst/>
          </a:prstGeom>
          <a:noFill/>
          <a:ln/>
        </p:spPr>
        <p:txBody>
          <a:bodyPr wrap="square" rtlCol="0" anchor="t"/>
          <a:lstStyle/>
          <a:p>
            <a:pPr marL="0" indent="0">
              <a:buNone/>
            </a:pPr>
            <a:r>
              <a:rPr lang="en-US" sz="1150" dirty="0">
                <a:solidFill>
                  <a:srgbClr val="6FA766"/>
                </a:solidFill>
                <a:latin typeface="Calibri" pitchFamily="34" charset="0"/>
                <a:ea typeface="Calibri" pitchFamily="34" charset="-122"/>
                <a:cs typeface="Calibri" pitchFamily="34" charset="-120"/>
              </a:rPr>
              <a:t>Elevated risk of repeat admission</a:t>
            </a:r>
            <a:endParaRPr lang="en-US" sz="1150" dirty="0"/>
          </a:p>
        </p:txBody>
      </p:sp>
      <p:sp>
        <p:nvSpPr>
          <p:cNvPr id="36" name="Text 3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B16F2D-B808-BAA8-CC3B-33879CF6241D}"/>
              </a:ext>
            </a:extLst>
          </p:cNvPr>
          <p:cNvPicPr>
            <a:picLocks noChangeAspect="1"/>
          </p:cNvPicPr>
          <p:nvPr/>
        </p:nvPicPr>
        <p:blipFill>
          <a:blip r:embed="rId2"/>
          <a:stretch>
            <a:fillRect/>
          </a:stretch>
        </p:blipFill>
        <p:spPr>
          <a:xfrm>
            <a:off x="0" y="158941"/>
            <a:ext cx="12192000" cy="6831945"/>
          </a:xfrm>
          <a:prstGeom prst="rect">
            <a:avLst/>
          </a:prstGeom>
        </p:spPr>
      </p:pic>
    </p:spTree>
    <p:extLst>
      <p:ext uri="{BB962C8B-B14F-4D97-AF65-F5344CB8AC3E}">
        <p14:creationId xmlns:p14="http://schemas.microsoft.com/office/powerpoint/2010/main" val="2291132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532798-97FE-C542-DEEF-5997C12014C4}"/>
              </a:ext>
            </a:extLst>
          </p:cNvPr>
          <p:cNvPicPr>
            <a:picLocks noChangeAspect="1"/>
          </p:cNvPicPr>
          <p:nvPr/>
        </p:nvPicPr>
        <p:blipFill>
          <a:blip r:embed="rId2"/>
          <a:stretch>
            <a:fillRect/>
          </a:stretch>
        </p:blipFill>
        <p:spPr>
          <a:xfrm>
            <a:off x="0" y="11806"/>
            <a:ext cx="12192000" cy="6834388"/>
          </a:xfrm>
          <a:prstGeom prst="rect">
            <a:avLst/>
          </a:prstGeom>
        </p:spPr>
      </p:pic>
      <p:pic>
        <p:nvPicPr>
          <p:cNvPr id="4" name="Picture 3">
            <a:extLst>
              <a:ext uri="{FF2B5EF4-FFF2-40B4-BE49-F238E27FC236}">
                <a16:creationId xmlns:a16="http://schemas.microsoft.com/office/drawing/2014/main" id="{6768A50B-7746-CFCE-1ED6-CD36DB7C288A}"/>
              </a:ext>
            </a:extLst>
          </p:cNvPr>
          <p:cNvPicPr>
            <a:picLocks noChangeAspect="1"/>
          </p:cNvPicPr>
          <p:nvPr/>
        </p:nvPicPr>
        <p:blipFill>
          <a:blip r:embed="rId3"/>
          <a:stretch>
            <a:fillRect/>
          </a:stretch>
        </p:blipFill>
        <p:spPr>
          <a:xfrm>
            <a:off x="0" y="22790"/>
            <a:ext cx="12192000" cy="6812420"/>
          </a:xfrm>
          <a:prstGeom prst="rect">
            <a:avLst/>
          </a:prstGeom>
        </p:spPr>
      </p:pic>
    </p:spTree>
    <p:extLst>
      <p:ext uri="{BB962C8B-B14F-4D97-AF65-F5344CB8AC3E}">
        <p14:creationId xmlns:p14="http://schemas.microsoft.com/office/powerpoint/2010/main" val="641525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A38C75-6EAF-67A9-E083-1CD087E1FB25}"/>
              </a:ext>
            </a:extLst>
          </p:cNvPr>
          <p:cNvPicPr>
            <a:picLocks noChangeAspect="1"/>
          </p:cNvPicPr>
          <p:nvPr/>
        </p:nvPicPr>
        <p:blipFill>
          <a:blip r:embed="rId2"/>
          <a:stretch>
            <a:fillRect/>
          </a:stretch>
        </p:blipFill>
        <p:spPr>
          <a:xfrm>
            <a:off x="0" y="28977"/>
            <a:ext cx="12192000" cy="6800045"/>
          </a:xfrm>
          <a:prstGeom prst="rect">
            <a:avLst/>
          </a:prstGeom>
        </p:spPr>
      </p:pic>
      <p:pic>
        <p:nvPicPr>
          <p:cNvPr id="5" name="Picture 4">
            <a:extLst>
              <a:ext uri="{FF2B5EF4-FFF2-40B4-BE49-F238E27FC236}">
                <a16:creationId xmlns:a16="http://schemas.microsoft.com/office/drawing/2014/main" id="{1F97A365-AFB9-6741-C627-AC561BA89166}"/>
              </a:ext>
            </a:extLst>
          </p:cNvPr>
          <p:cNvPicPr>
            <a:picLocks noChangeAspect="1"/>
          </p:cNvPicPr>
          <p:nvPr/>
        </p:nvPicPr>
        <p:blipFill>
          <a:blip r:embed="rId3"/>
          <a:stretch>
            <a:fillRect/>
          </a:stretch>
        </p:blipFill>
        <p:spPr>
          <a:xfrm>
            <a:off x="0" y="14210"/>
            <a:ext cx="12192000" cy="6829579"/>
          </a:xfrm>
          <a:prstGeom prst="rect">
            <a:avLst/>
          </a:prstGeom>
        </p:spPr>
      </p:pic>
      <p:pic>
        <p:nvPicPr>
          <p:cNvPr id="4" name="Picture 3">
            <a:extLst>
              <a:ext uri="{FF2B5EF4-FFF2-40B4-BE49-F238E27FC236}">
                <a16:creationId xmlns:a16="http://schemas.microsoft.com/office/drawing/2014/main" id="{5C6DA577-745E-4A0A-F895-5CE4D0F7879F}"/>
              </a:ext>
            </a:extLst>
          </p:cNvPr>
          <p:cNvPicPr>
            <a:picLocks noChangeAspect="1"/>
          </p:cNvPicPr>
          <p:nvPr/>
        </p:nvPicPr>
        <p:blipFill>
          <a:blip r:embed="rId4"/>
          <a:stretch>
            <a:fillRect/>
          </a:stretch>
        </p:blipFill>
        <p:spPr>
          <a:xfrm>
            <a:off x="0" y="40429"/>
            <a:ext cx="12192000" cy="6777142"/>
          </a:xfrm>
          <a:prstGeom prst="rect">
            <a:avLst/>
          </a:prstGeom>
        </p:spPr>
      </p:pic>
    </p:spTree>
    <p:extLst>
      <p:ext uri="{BB962C8B-B14F-4D97-AF65-F5344CB8AC3E}">
        <p14:creationId xmlns:p14="http://schemas.microsoft.com/office/powerpoint/2010/main" val="1694236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2C5F2D"/>
          </a:solidFill>
          <a:ln/>
        </p:spPr>
        <p:txBody>
          <a:bodyPr/>
          <a:lstStyle/>
          <a:p>
            <a:endParaRPr lang="en-US"/>
          </a:p>
        </p:txBody>
      </p:sp>
      <p:sp>
        <p:nvSpPr>
          <p:cNvPr id="3" name="Text 1"/>
          <p:cNvSpPr/>
          <p:nvPr/>
        </p:nvSpPr>
        <p:spPr>
          <a:xfrm>
            <a:off x="548640" y="0"/>
            <a:ext cx="7315200" cy="10515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Recommendations</a:t>
            </a:r>
            <a:endParaRPr lang="en-US" sz="3200" dirty="0"/>
          </a:p>
        </p:txBody>
      </p:sp>
      <p:sp>
        <p:nvSpPr>
          <p:cNvPr id="4" name="Text 2"/>
          <p:cNvSpPr/>
          <p:nvPr/>
        </p:nvSpPr>
        <p:spPr>
          <a:xfrm>
            <a:off x="5852160" y="0"/>
            <a:ext cx="5852160" cy="1051560"/>
          </a:xfrm>
          <a:prstGeom prst="rect">
            <a:avLst/>
          </a:prstGeom>
          <a:noFill/>
          <a:ln/>
        </p:spPr>
        <p:txBody>
          <a:bodyPr wrap="square" rtlCol="0" anchor="ctr"/>
          <a:lstStyle/>
          <a:p>
            <a:pPr marL="0" indent="0" algn="r">
              <a:buNone/>
            </a:pPr>
            <a:r>
              <a:rPr lang="en-US" sz="1400" i="1" dirty="0">
                <a:solidFill>
                  <a:srgbClr val="6FA766"/>
                </a:solidFill>
                <a:latin typeface="Calibri" pitchFamily="34" charset="0"/>
                <a:ea typeface="Calibri" pitchFamily="34" charset="-122"/>
                <a:cs typeface="Calibri" pitchFamily="34" charset="-120"/>
              </a:rPr>
              <a:t>Data-driven actions, mapped to each finding</a:t>
            </a:r>
            <a:endParaRPr lang="en-US" sz="1400" dirty="0"/>
          </a:p>
        </p:txBody>
      </p:sp>
      <p:sp>
        <p:nvSpPr>
          <p:cNvPr id="5" name="Shape 3"/>
          <p:cNvSpPr/>
          <p:nvPr/>
        </p:nvSpPr>
        <p:spPr>
          <a:xfrm>
            <a:off x="548640" y="1325880"/>
            <a:ext cx="5440680" cy="1207008"/>
          </a:xfrm>
          <a:prstGeom prst="roundRect">
            <a:avLst>
              <a:gd name="adj" fmla="val 7576"/>
            </a:avLst>
          </a:prstGeom>
          <a:solidFill>
            <a:srgbClr val="E9F2E4"/>
          </a:solidFill>
          <a:ln/>
        </p:spPr>
        <p:txBody>
          <a:bodyPr/>
          <a:lstStyle/>
          <a:p>
            <a:endParaRPr lang="en-US"/>
          </a:p>
        </p:txBody>
      </p:sp>
      <p:sp>
        <p:nvSpPr>
          <p:cNvPr id="6" name="Shape 4"/>
          <p:cNvSpPr/>
          <p:nvPr/>
        </p:nvSpPr>
        <p:spPr>
          <a:xfrm>
            <a:off x="749808" y="1453896"/>
            <a:ext cx="457200" cy="457200"/>
          </a:xfrm>
          <a:prstGeom prst="ellipse">
            <a:avLst/>
          </a:prstGeom>
          <a:solidFill>
            <a:srgbClr val="2C5F2D"/>
          </a:solidFill>
          <a:ln/>
        </p:spPr>
        <p:txBody>
          <a:bodyPr/>
          <a:lstStyle/>
          <a:p>
            <a:endParaRPr lang="en-US"/>
          </a:p>
        </p:txBody>
      </p:sp>
      <p:sp>
        <p:nvSpPr>
          <p:cNvPr id="7" name="Text 5"/>
          <p:cNvSpPr/>
          <p:nvPr/>
        </p:nvSpPr>
        <p:spPr>
          <a:xfrm>
            <a:off x="749808" y="1453896"/>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353312" y="1417320"/>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CARDIOLOGY / ONCOLOGY READMISSIONS</a:t>
            </a:r>
            <a:endParaRPr lang="en-US" sz="900" dirty="0"/>
          </a:p>
        </p:txBody>
      </p:sp>
      <p:sp>
        <p:nvSpPr>
          <p:cNvPr id="9" name="Text 7"/>
          <p:cNvSpPr/>
          <p:nvPr/>
        </p:nvSpPr>
        <p:spPr>
          <a:xfrm>
            <a:off x="1353312" y="1728216"/>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Conduct root-cause readmission reviews starting with Cardiology (~28%) and Oncology (~25%).</a:t>
            </a:r>
            <a:endParaRPr lang="en-US" sz="1080" dirty="0"/>
          </a:p>
        </p:txBody>
      </p:sp>
      <p:sp>
        <p:nvSpPr>
          <p:cNvPr id="10" name="Shape 8"/>
          <p:cNvSpPr/>
          <p:nvPr/>
        </p:nvSpPr>
        <p:spPr>
          <a:xfrm>
            <a:off x="548640" y="2670048"/>
            <a:ext cx="5440680" cy="1207008"/>
          </a:xfrm>
          <a:prstGeom prst="roundRect">
            <a:avLst>
              <a:gd name="adj" fmla="val 7576"/>
            </a:avLst>
          </a:prstGeom>
          <a:solidFill>
            <a:srgbClr val="E9F2E4"/>
          </a:solidFill>
          <a:ln/>
        </p:spPr>
        <p:txBody>
          <a:bodyPr/>
          <a:lstStyle/>
          <a:p>
            <a:endParaRPr lang="en-US"/>
          </a:p>
        </p:txBody>
      </p:sp>
      <p:sp>
        <p:nvSpPr>
          <p:cNvPr id="11" name="Shape 9"/>
          <p:cNvSpPr/>
          <p:nvPr/>
        </p:nvSpPr>
        <p:spPr>
          <a:xfrm>
            <a:off x="749808" y="2798064"/>
            <a:ext cx="457200" cy="457200"/>
          </a:xfrm>
          <a:prstGeom prst="ellipse">
            <a:avLst/>
          </a:prstGeom>
          <a:solidFill>
            <a:srgbClr val="2C5F2D"/>
          </a:solidFill>
          <a:ln/>
        </p:spPr>
        <p:txBody>
          <a:bodyPr/>
          <a:lstStyle/>
          <a:p>
            <a:endParaRPr lang="en-US"/>
          </a:p>
        </p:txBody>
      </p:sp>
      <p:sp>
        <p:nvSpPr>
          <p:cNvPr id="12" name="Text 10"/>
          <p:cNvSpPr/>
          <p:nvPr/>
        </p:nvSpPr>
        <p:spPr>
          <a:xfrm>
            <a:off x="749808" y="2798064"/>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353312" y="2761488"/>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SEPTEMBER / SEASONAL PEAKS</a:t>
            </a:r>
            <a:endParaRPr lang="en-US" sz="900" dirty="0"/>
          </a:p>
        </p:txBody>
      </p:sp>
      <p:sp>
        <p:nvSpPr>
          <p:cNvPr id="14" name="Text 12"/>
          <p:cNvSpPr/>
          <p:nvPr/>
        </p:nvSpPr>
        <p:spPr>
          <a:xfrm>
            <a:off x="1353312" y="3072384"/>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Scale up discharge-planning staff and post-discharge outreach ahead of Sept, Oct, Dec and Jan peaks.</a:t>
            </a:r>
            <a:endParaRPr lang="en-US" sz="1080" dirty="0"/>
          </a:p>
        </p:txBody>
      </p:sp>
      <p:sp>
        <p:nvSpPr>
          <p:cNvPr id="15" name="Shape 13"/>
          <p:cNvSpPr/>
          <p:nvPr/>
        </p:nvSpPr>
        <p:spPr>
          <a:xfrm>
            <a:off x="548640" y="4014216"/>
            <a:ext cx="5440680" cy="1207008"/>
          </a:xfrm>
          <a:prstGeom prst="roundRect">
            <a:avLst>
              <a:gd name="adj" fmla="val 7576"/>
            </a:avLst>
          </a:prstGeom>
          <a:solidFill>
            <a:srgbClr val="E9F2E4"/>
          </a:solidFill>
          <a:ln/>
        </p:spPr>
        <p:txBody>
          <a:bodyPr/>
          <a:lstStyle/>
          <a:p>
            <a:endParaRPr lang="en-US"/>
          </a:p>
        </p:txBody>
      </p:sp>
      <p:sp>
        <p:nvSpPr>
          <p:cNvPr id="16" name="Shape 14"/>
          <p:cNvSpPr/>
          <p:nvPr/>
        </p:nvSpPr>
        <p:spPr>
          <a:xfrm>
            <a:off x="749808" y="4142232"/>
            <a:ext cx="457200" cy="457200"/>
          </a:xfrm>
          <a:prstGeom prst="ellipse">
            <a:avLst/>
          </a:prstGeom>
          <a:solidFill>
            <a:srgbClr val="2C5F2D"/>
          </a:solidFill>
          <a:ln/>
        </p:spPr>
        <p:txBody>
          <a:bodyPr/>
          <a:lstStyle/>
          <a:p>
            <a:endParaRPr lang="en-US"/>
          </a:p>
        </p:txBody>
      </p:sp>
      <p:sp>
        <p:nvSpPr>
          <p:cNvPr id="17" name="Text 15"/>
          <p:cNvSpPr/>
          <p:nvPr/>
        </p:nvSpPr>
        <p:spPr>
          <a:xfrm>
            <a:off x="749808" y="414223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353312" y="4105656"/>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SHORTER STAYS &amp; READMISSION</a:t>
            </a:r>
            <a:endParaRPr lang="en-US" sz="900" dirty="0"/>
          </a:p>
        </p:txBody>
      </p:sp>
      <p:sp>
        <p:nvSpPr>
          <p:cNvPr id="19" name="Text 17"/>
          <p:cNvSpPr/>
          <p:nvPr/>
        </p:nvSpPr>
        <p:spPr>
          <a:xfrm>
            <a:off x="1353312" y="4416552"/>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Review discharge-readiness criteria for 1–6 day stays; add mandatory 48–72hr follow-up contact.</a:t>
            </a:r>
            <a:endParaRPr lang="en-US" sz="1080" dirty="0"/>
          </a:p>
        </p:txBody>
      </p:sp>
      <p:sp>
        <p:nvSpPr>
          <p:cNvPr id="20" name="Shape 18"/>
          <p:cNvSpPr/>
          <p:nvPr/>
        </p:nvSpPr>
        <p:spPr>
          <a:xfrm>
            <a:off x="548640" y="5358384"/>
            <a:ext cx="5440680" cy="1207008"/>
          </a:xfrm>
          <a:prstGeom prst="roundRect">
            <a:avLst>
              <a:gd name="adj" fmla="val 7576"/>
            </a:avLst>
          </a:prstGeom>
          <a:solidFill>
            <a:srgbClr val="E9F2E4"/>
          </a:solidFill>
          <a:ln/>
        </p:spPr>
        <p:txBody>
          <a:bodyPr/>
          <a:lstStyle/>
          <a:p>
            <a:endParaRPr lang="en-US"/>
          </a:p>
        </p:txBody>
      </p:sp>
      <p:sp>
        <p:nvSpPr>
          <p:cNvPr id="21" name="Shape 19"/>
          <p:cNvSpPr/>
          <p:nvPr/>
        </p:nvSpPr>
        <p:spPr>
          <a:xfrm>
            <a:off x="749808" y="5486400"/>
            <a:ext cx="457200" cy="457200"/>
          </a:xfrm>
          <a:prstGeom prst="ellipse">
            <a:avLst/>
          </a:prstGeom>
          <a:solidFill>
            <a:srgbClr val="2C5F2D"/>
          </a:solidFill>
          <a:ln/>
        </p:spPr>
        <p:txBody>
          <a:bodyPr/>
          <a:lstStyle/>
          <a:p>
            <a:endParaRPr lang="en-US"/>
          </a:p>
        </p:txBody>
      </p:sp>
      <p:sp>
        <p:nvSpPr>
          <p:cNvPr id="22" name="Text 20"/>
          <p:cNvSpPr/>
          <p:nvPr/>
        </p:nvSpPr>
        <p:spPr>
          <a:xfrm>
            <a:off x="749808" y="548640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1353312" y="5449824"/>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PATIENTS AGED 61+</a:t>
            </a:r>
            <a:endParaRPr lang="en-US" sz="900" dirty="0"/>
          </a:p>
        </p:txBody>
      </p:sp>
      <p:sp>
        <p:nvSpPr>
          <p:cNvPr id="24" name="Text 22"/>
          <p:cNvSpPr/>
          <p:nvPr/>
        </p:nvSpPr>
        <p:spPr>
          <a:xfrm>
            <a:off x="1353312" y="5760720"/>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Launch structured post-discharge care for 61+: medication review, follow-up scheduling, home-care support.</a:t>
            </a:r>
            <a:endParaRPr lang="en-US" sz="1080" dirty="0"/>
          </a:p>
        </p:txBody>
      </p:sp>
      <p:sp>
        <p:nvSpPr>
          <p:cNvPr id="25" name="Shape 23"/>
          <p:cNvSpPr/>
          <p:nvPr/>
        </p:nvSpPr>
        <p:spPr>
          <a:xfrm>
            <a:off x="6355080" y="1325880"/>
            <a:ext cx="5440680" cy="1207008"/>
          </a:xfrm>
          <a:prstGeom prst="roundRect">
            <a:avLst>
              <a:gd name="adj" fmla="val 7576"/>
            </a:avLst>
          </a:prstGeom>
          <a:solidFill>
            <a:srgbClr val="E9F2E4"/>
          </a:solidFill>
          <a:ln/>
        </p:spPr>
        <p:txBody>
          <a:bodyPr/>
          <a:lstStyle/>
          <a:p>
            <a:endParaRPr lang="en-US"/>
          </a:p>
        </p:txBody>
      </p:sp>
      <p:sp>
        <p:nvSpPr>
          <p:cNvPr id="26" name="Shape 24"/>
          <p:cNvSpPr/>
          <p:nvPr/>
        </p:nvSpPr>
        <p:spPr>
          <a:xfrm>
            <a:off x="6556248" y="1453896"/>
            <a:ext cx="457200" cy="457200"/>
          </a:xfrm>
          <a:prstGeom prst="ellipse">
            <a:avLst/>
          </a:prstGeom>
          <a:solidFill>
            <a:srgbClr val="2C5F2D"/>
          </a:solidFill>
          <a:ln/>
        </p:spPr>
        <p:txBody>
          <a:bodyPr/>
          <a:lstStyle/>
          <a:p>
            <a:endParaRPr lang="en-US"/>
          </a:p>
        </p:txBody>
      </p:sp>
      <p:sp>
        <p:nvSpPr>
          <p:cNvPr id="27" name="Text 25"/>
          <p:cNvSpPr/>
          <p:nvPr/>
        </p:nvSpPr>
        <p:spPr>
          <a:xfrm>
            <a:off x="6556248" y="1453896"/>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7159752" y="1417320"/>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COST VS. OUTCOME (DECEASED HIGHEST COST)</a:t>
            </a:r>
            <a:endParaRPr lang="en-US" sz="900" dirty="0"/>
          </a:p>
        </p:txBody>
      </p:sp>
      <p:sp>
        <p:nvSpPr>
          <p:cNvPr id="29" name="Text 27"/>
          <p:cNvSpPr/>
          <p:nvPr/>
        </p:nvSpPr>
        <p:spPr>
          <a:xfrm>
            <a:off x="7159752" y="1728216"/>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Audit high-cost, high-mortality cases to separate unavoidable complexity from avoidable cost drivers.</a:t>
            </a:r>
            <a:endParaRPr lang="en-US" sz="1080" dirty="0"/>
          </a:p>
        </p:txBody>
      </p:sp>
      <p:sp>
        <p:nvSpPr>
          <p:cNvPr id="30" name="Shape 28"/>
          <p:cNvSpPr/>
          <p:nvPr/>
        </p:nvSpPr>
        <p:spPr>
          <a:xfrm>
            <a:off x="6355080" y="2670048"/>
            <a:ext cx="5440680" cy="1207008"/>
          </a:xfrm>
          <a:prstGeom prst="roundRect">
            <a:avLst>
              <a:gd name="adj" fmla="val 7576"/>
            </a:avLst>
          </a:prstGeom>
          <a:solidFill>
            <a:srgbClr val="E9F2E4"/>
          </a:solidFill>
          <a:ln/>
        </p:spPr>
        <p:txBody>
          <a:bodyPr/>
          <a:lstStyle/>
          <a:p>
            <a:endParaRPr lang="en-US"/>
          </a:p>
        </p:txBody>
      </p:sp>
      <p:sp>
        <p:nvSpPr>
          <p:cNvPr id="31" name="Shape 29"/>
          <p:cNvSpPr/>
          <p:nvPr/>
        </p:nvSpPr>
        <p:spPr>
          <a:xfrm>
            <a:off x="6556248" y="2798064"/>
            <a:ext cx="457200" cy="457200"/>
          </a:xfrm>
          <a:prstGeom prst="ellipse">
            <a:avLst/>
          </a:prstGeom>
          <a:solidFill>
            <a:srgbClr val="2C5F2D"/>
          </a:solidFill>
          <a:ln/>
        </p:spPr>
        <p:txBody>
          <a:bodyPr/>
          <a:lstStyle/>
          <a:p>
            <a:endParaRPr lang="en-US"/>
          </a:p>
        </p:txBody>
      </p:sp>
      <p:sp>
        <p:nvSpPr>
          <p:cNvPr id="32" name="Text 30"/>
          <p:cNvSpPr/>
          <p:nvPr/>
        </p:nvSpPr>
        <p:spPr>
          <a:xfrm>
            <a:off x="6556248" y="2798064"/>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3" name="Text 31"/>
          <p:cNvSpPr/>
          <p:nvPr/>
        </p:nvSpPr>
        <p:spPr>
          <a:xfrm>
            <a:off x="7159752" y="2761488"/>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SURGERY, ONCOLOGY &amp; ORTHOPEDICS</a:t>
            </a:r>
            <a:endParaRPr lang="en-US" sz="900" dirty="0"/>
          </a:p>
        </p:txBody>
      </p:sp>
      <p:sp>
        <p:nvSpPr>
          <p:cNvPr id="34" name="Text 32"/>
          <p:cNvSpPr/>
          <p:nvPr/>
        </p:nvSpPr>
        <p:spPr>
          <a:xfrm>
            <a:off x="7159752" y="3072384"/>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Review treatment protocols, LOS, resource use &amp; discharge planning in these poor-outcome, high-cost departments — Surgery first.</a:t>
            </a:r>
            <a:endParaRPr lang="en-US" sz="1080" dirty="0"/>
          </a:p>
        </p:txBody>
      </p:sp>
      <p:sp>
        <p:nvSpPr>
          <p:cNvPr id="35" name="Shape 33"/>
          <p:cNvSpPr/>
          <p:nvPr/>
        </p:nvSpPr>
        <p:spPr>
          <a:xfrm>
            <a:off x="6355080" y="4014216"/>
            <a:ext cx="5440680" cy="1207008"/>
          </a:xfrm>
          <a:prstGeom prst="roundRect">
            <a:avLst>
              <a:gd name="adj" fmla="val 7576"/>
            </a:avLst>
          </a:prstGeom>
          <a:solidFill>
            <a:srgbClr val="E9F2E4"/>
          </a:solidFill>
          <a:ln/>
        </p:spPr>
        <p:txBody>
          <a:bodyPr/>
          <a:lstStyle/>
          <a:p>
            <a:endParaRPr lang="en-US"/>
          </a:p>
        </p:txBody>
      </p:sp>
      <p:sp>
        <p:nvSpPr>
          <p:cNvPr id="36" name="Shape 34"/>
          <p:cNvSpPr/>
          <p:nvPr/>
        </p:nvSpPr>
        <p:spPr>
          <a:xfrm>
            <a:off x="6556248" y="4142232"/>
            <a:ext cx="457200" cy="457200"/>
          </a:xfrm>
          <a:prstGeom prst="ellipse">
            <a:avLst/>
          </a:prstGeom>
          <a:solidFill>
            <a:srgbClr val="2C5F2D"/>
          </a:solidFill>
          <a:ln/>
        </p:spPr>
        <p:txBody>
          <a:bodyPr/>
          <a:lstStyle/>
          <a:p>
            <a:endParaRPr lang="en-US"/>
          </a:p>
        </p:txBody>
      </p:sp>
      <p:sp>
        <p:nvSpPr>
          <p:cNvPr id="37" name="Text 35"/>
          <p:cNvSpPr/>
          <p:nvPr/>
        </p:nvSpPr>
        <p:spPr>
          <a:xfrm>
            <a:off x="6556248" y="414223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8" name="Text 36"/>
          <p:cNvSpPr/>
          <p:nvPr/>
        </p:nvSpPr>
        <p:spPr>
          <a:xfrm>
            <a:off x="7159752" y="4105656"/>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DISEASE BURDEN</a:t>
            </a:r>
            <a:endParaRPr lang="en-US" sz="900" dirty="0"/>
          </a:p>
        </p:txBody>
      </p:sp>
      <p:sp>
        <p:nvSpPr>
          <p:cNvPr id="39" name="Text 37"/>
          <p:cNvSpPr/>
          <p:nvPr/>
        </p:nvSpPr>
        <p:spPr>
          <a:xfrm>
            <a:off x="7159752" y="4416552"/>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Build preventive-care and patient-education programs for Malaria, Diabetes, COVID-19, Kidney Disease and Fractures.</a:t>
            </a:r>
            <a:endParaRPr lang="en-US" sz="1080" dirty="0"/>
          </a:p>
        </p:txBody>
      </p:sp>
      <p:sp>
        <p:nvSpPr>
          <p:cNvPr id="40" name="Shape 38"/>
          <p:cNvSpPr/>
          <p:nvPr/>
        </p:nvSpPr>
        <p:spPr>
          <a:xfrm>
            <a:off x="6355080" y="5358384"/>
            <a:ext cx="5440680" cy="1207008"/>
          </a:xfrm>
          <a:prstGeom prst="roundRect">
            <a:avLst>
              <a:gd name="adj" fmla="val 7576"/>
            </a:avLst>
          </a:prstGeom>
          <a:solidFill>
            <a:srgbClr val="E9F2E4"/>
          </a:solidFill>
          <a:ln/>
        </p:spPr>
        <p:txBody>
          <a:bodyPr/>
          <a:lstStyle/>
          <a:p>
            <a:endParaRPr lang="en-US"/>
          </a:p>
        </p:txBody>
      </p:sp>
      <p:sp>
        <p:nvSpPr>
          <p:cNvPr id="41" name="Shape 39"/>
          <p:cNvSpPr/>
          <p:nvPr/>
        </p:nvSpPr>
        <p:spPr>
          <a:xfrm>
            <a:off x="6556248" y="5486400"/>
            <a:ext cx="457200" cy="457200"/>
          </a:xfrm>
          <a:prstGeom prst="ellipse">
            <a:avLst/>
          </a:prstGeom>
          <a:solidFill>
            <a:srgbClr val="2C5F2D"/>
          </a:solidFill>
          <a:ln/>
        </p:spPr>
        <p:txBody>
          <a:bodyPr/>
          <a:lstStyle/>
          <a:p>
            <a:endParaRPr lang="en-US"/>
          </a:p>
        </p:txBody>
      </p:sp>
      <p:sp>
        <p:nvSpPr>
          <p:cNvPr id="42" name="Text 40"/>
          <p:cNvSpPr/>
          <p:nvPr/>
        </p:nvSpPr>
        <p:spPr>
          <a:xfrm>
            <a:off x="6556248" y="548640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43" name="Text 41"/>
          <p:cNvSpPr/>
          <p:nvPr/>
        </p:nvSpPr>
        <p:spPr>
          <a:xfrm>
            <a:off x="7159752" y="5449824"/>
            <a:ext cx="4434840" cy="320040"/>
          </a:xfrm>
          <a:prstGeom prst="rect">
            <a:avLst/>
          </a:prstGeom>
          <a:noFill/>
          <a:ln/>
        </p:spPr>
        <p:txBody>
          <a:bodyPr wrap="square" rtlCol="0" anchor="t"/>
          <a:lstStyle/>
          <a:p>
            <a:pPr marL="0" indent="0">
              <a:buNone/>
            </a:pPr>
            <a:r>
              <a:rPr lang="en-US" sz="900" b="1" kern="0" spc="30" dirty="0">
                <a:solidFill>
                  <a:srgbClr val="2C5F2D"/>
                </a:solidFill>
                <a:latin typeface="Calibri" pitchFamily="34" charset="0"/>
                <a:ea typeface="Calibri" pitchFamily="34" charset="-122"/>
                <a:cs typeface="Calibri" pitchFamily="34" charset="-120"/>
              </a:rPr>
              <a:t>FINDING: OVERALL MONITORING</a:t>
            </a:r>
            <a:endParaRPr lang="en-US" sz="900" dirty="0"/>
          </a:p>
        </p:txBody>
      </p:sp>
      <p:sp>
        <p:nvSpPr>
          <p:cNvPr id="44" name="Text 42"/>
          <p:cNvSpPr/>
          <p:nvPr/>
        </p:nvSpPr>
        <p:spPr>
          <a:xfrm>
            <a:off x="7159752" y="5760720"/>
            <a:ext cx="4434840" cy="704088"/>
          </a:xfrm>
          <a:prstGeom prst="rect">
            <a:avLst/>
          </a:prstGeom>
          <a:noFill/>
          <a:ln/>
        </p:spPr>
        <p:txBody>
          <a:bodyPr wrap="square" rtlCol="0" anchor="t"/>
          <a:lstStyle/>
          <a:p>
            <a:pPr marL="0" indent="0">
              <a:lnSpc>
                <a:spcPct val="108000"/>
              </a:lnSpc>
              <a:buNone/>
            </a:pPr>
            <a:r>
              <a:rPr lang="en-US" sz="1080" dirty="0">
                <a:solidFill>
                  <a:srgbClr val="1F2B1A"/>
                </a:solidFill>
                <a:latin typeface="Calibri" pitchFamily="34" charset="0"/>
                <a:ea typeface="Calibri" pitchFamily="34" charset="-122"/>
                <a:cs typeface="Calibri" pitchFamily="34" charset="-120"/>
              </a:rPr>
              <a:t>Establish a monthly KPI dashboard: readmission by month/department/age/LOS, plus cost-to-outcome ratio.</a:t>
            </a:r>
            <a:endParaRPr lang="en-US" sz="1080" dirty="0"/>
          </a:p>
        </p:txBody>
      </p:sp>
      <p:sp>
        <p:nvSpPr>
          <p:cNvPr id="45" name="Text 4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5655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1B3B1E"/>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solidFill>
            <a:srgbClr val="2C5F2D">
              <a:alpha val="60000"/>
            </a:srgbClr>
          </a:solidFill>
          <a:ln/>
        </p:spPr>
        <p:txBody>
          <a:bodyPr/>
          <a:lstStyle/>
          <a:p>
            <a:endParaRPr lang="en-US"/>
          </a:p>
        </p:txBody>
      </p:sp>
      <p:sp>
        <p:nvSpPr>
          <p:cNvPr id="3" name="Shape 1"/>
          <p:cNvSpPr/>
          <p:nvPr/>
        </p:nvSpPr>
        <p:spPr>
          <a:xfrm>
            <a:off x="9875520" y="4389120"/>
            <a:ext cx="4023360" cy="4023360"/>
          </a:xfrm>
          <a:prstGeom prst="ellipse">
            <a:avLst/>
          </a:prstGeom>
          <a:solidFill>
            <a:srgbClr val="6FA766">
              <a:alpha val="45000"/>
            </a:srgbClr>
          </a:solidFill>
          <a:ln/>
        </p:spPr>
        <p:txBody>
          <a:bodyPr/>
          <a:lstStyle/>
          <a:p>
            <a:endParaRPr lang="en-US"/>
          </a:p>
        </p:txBody>
      </p:sp>
      <p:sp>
        <p:nvSpPr>
          <p:cNvPr id="4" name="Text 2"/>
          <p:cNvSpPr/>
          <p:nvPr/>
        </p:nvSpPr>
        <p:spPr>
          <a:xfrm>
            <a:off x="822960" y="731520"/>
            <a:ext cx="73152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5" name="Text 3"/>
          <p:cNvSpPr/>
          <p:nvPr/>
        </p:nvSpPr>
        <p:spPr>
          <a:xfrm>
            <a:off x="822960" y="1691640"/>
            <a:ext cx="10241280" cy="96012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The data points to five clear priorities: reducing readmissions (esp. Cardiology, September peaks and early-discharge risk), improving outcomes for patients 61+, fixing the cost-outcome mismatch in Surgery, Oncology &amp; Orthopedics, and tightening resource utilization overall.</a:t>
            </a:r>
            <a:endParaRPr lang="en-US" sz="1450" dirty="0"/>
          </a:p>
        </p:txBody>
      </p:sp>
      <p:sp>
        <p:nvSpPr>
          <p:cNvPr id="6" name="Shape 4"/>
          <p:cNvSpPr/>
          <p:nvPr/>
        </p:nvSpPr>
        <p:spPr>
          <a:xfrm>
            <a:off x="822960" y="2880360"/>
            <a:ext cx="2606040" cy="1965960"/>
          </a:xfrm>
          <a:prstGeom prst="roundRect">
            <a:avLst>
              <a:gd name="adj" fmla="val 4651"/>
            </a:avLst>
          </a:prstGeom>
          <a:solidFill>
            <a:srgbClr val="2C5F2D"/>
          </a:solidFill>
          <a:ln/>
        </p:spPr>
        <p:txBody>
          <a:bodyPr/>
          <a:lstStyle/>
          <a:p>
            <a:endParaRPr lang="en-US"/>
          </a:p>
        </p:txBody>
      </p:sp>
      <p:sp>
        <p:nvSpPr>
          <p:cNvPr id="7" name="Text 5"/>
          <p:cNvSpPr/>
          <p:nvPr/>
        </p:nvSpPr>
        <p:spPr>
          <a:xfrm>
            <a:off x="1005840" y="3017520"/>
            <a:ext cx="548640" cy="457200"/>
          </a:xfrm>
          <a:prstGeom prst="rect">
            <a:avLst/>
          </a:prstGeom>
          <a:noFill/>
          <a:ln/>
        </p:spPr>
        <p:txBody>
          <a:bodyPr wrap="square" rtlCol="0" anchor="ctr"/>
          <a:lstStyle/>
          <a:p>
            <a:pPr marL="0" indent="0">
              <a:buNone/>
            </a:pPr>
            <a:r>
              <a:rPr lang="en-US" sz="2000" b="1" dirty="0">
                <a:solidFill>
                  <a:srgbClr val="6FA766"/>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005840" y="3474720"/>
            <a:ext cx="2240280" cy="1234440"/>
          </a:xfrm>
          <a:prstGeom prst="rect">
            <a:avLst/>
          </a:prstGeom>
          <a:noFill/>
          <a:ln/>
        </p:spPr>
        <p:txBody>
          <a:bodyPr wrap="square" rtlCol="0" anchor="t"/>
          <a:lstStyle/>
          <a:p>
            <a:pPr marL="0" indent="0">
              <a:lnSpc>
                <a:spcPct val="112000"/>
              </a:lnSpc>
              <a:buNone/>
            </a:pPr>
            <a:r>
              <a:rPr lang="en-US" sz="1150" dirty="0">
                <a:solidFill>
                  <a:srgbClr val="FFFFFF"/>
                </a:solidFill>
                <a:latin typeface="Calibri" pitchFamily="34" charset="0"/>
                <a:ea typeface="Calibri" pitchFamily="34" charset="-122"/>
                <a:cs typeface="Calibri" pitchFamily="34" charset="-120"/>
              </a:rPr>
              <a:t>Reduce avoidable readmissions — Cardiology &amp; Oncology, and around Sept/Oct/Dec/Jan peaks</a:t>
            </a:r>
            <a:endParaRPr lang="en-US" sz="1150" dirty="0"/>
          </a:p>
        </p:txBody>
      </p:sp>
      <p:sp>
        <p:nvSpPr>
          <p:cNvPr id="9" name="Shape 7"/>
          <p:cNvSpPr/>
          <p:nvPr/>
        </p:nvSpPr>
        <p:spPr>
          <a:xfrm>
            <a:off x="3685032" y="2880360"/>
            <a:ext cx="2606040" cy="1965960"/>
          </a:xfrm>
          <a:prstGeom prst="roundRect">
            <a:avLst>
              <a:gd name="adj" fmla="val 4651"/>
            </a:avLst>
          </a:prstGeom>
          <a:solidFill>
            <a:srgbClr val="2C5F2D"/>
          </a:solidFill>
          <a:ln/>
        </p:spPr>
        <p:txBody>
          <a:bodyPr/>
          <a:lstStyle/>
          <a:p>
            <a:endParaRPr lang="en-US"/>
          </a:p>
        </p:txBody>
      </p:sp>
      <p:sp>
        <p:nvSpPr>
          <p:cNvPr id="10" name="Text 8"/>
          <p:cNvSpPr/>
          <p:nvPr/>
        </p:nvSpPr>
        <p:spPr>
          <a:xfrm>
            <a:off x="3867912" y="3017520"/>
            <a:ext cx="548640" cy="457200"/>
          </a:xfrm>
          <a:prstGeom prst="rect">
            <a:avLst/>
          </a:prstGeom>
          <a:noFill/>
          <a:ln/>
        </p:spPr>
        <p:txBody>
          <a:bodyPr wrap="square" rtlCol="0" anchor="ctr"/>
          <a:lstStyle/>
          <a:p>
            <a:pPr marL="0" indent="0">
              <a:buNone/>
            </a:pPr>
            <a:r>
              <a:rPr lang="en-US" sz="2000" b="1" dirty="0">
                <a:solidFill>
                  <a:srgbClr val="6FA766"/>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3867912" y="3474720"/>
            <a:ext cx="2240280" cy="1234440"/>
          </a:xfrm>
          <a:prstGeom prst="rect">
            <a:avLst/>
          </a:prstGeom>
          <a:noFill/>
          <a:ln/>
        </p:spPr>
        <p:txBody>
          <a:bodyPr wrap="square" rtlCol="0" anchor="t"/>
          <a:lstStyle/>
          <a:p>
            <a:pPr marL="0" indent="0">
              <a:lnSpc>
                <a:spcPct val="112000"/>
              </a:lnSpc>
              <a:buNone/>
            </a:pPr>
            <a:r>
              <a:rPr lang="en-US" sz="1150" dirty="0">
                <a:solidFill>
                  <a:srgbClr val="FFFFFF"/>
                </a:solidFill>
                <a:latin typeface="Calibri" pitchFamily="34" charset="0"/>
                <a:ea typeface="Calibri" pitchFamily="34" charset="-122"/>
                <a:cs typeface="Calibri" pitchFamily="34" charset="-120"/>
              </a:rPr>
              <a:t>Improve outcomes for patients 61+ (38% readmission) and review early-discharge risk (1–6 day stays)</a:t>
            </a:r>
            <a:endParaRPr lang="en-US" sz="1150" dirty="0"/>
          </a:p>
        </p:txBody>
      </p:sp>
      <p:sp>
        <p:nvSpPr>
          <p:cNvPr id="12" name="Shape 10"/>
          <p:cNvSpPr/>
          <p:nvPr/>
        </p:nvSpPr>
        <p:spPr>
          <a:xfrm>
            <a:off x="6547104" y="2880360"/>
            <a:ext cx="2606040" cy="1965960"/>
          </a:xfrm>
          <a:prstGeom prst="roundRect">
            <a:avLst>
              <a:gd name="adj" fmla="val 4651"/>
            </a:avLst>
          </a:prstGeom>
          <a:solidFill>
            <a:srgbClr val="2C5F2D"/>
          </a:solidFill>
          <a:ln/>
        </p:spPr>
        <p:txBody>
          <a:bodyPr/>
          <a:lstStyle/>
          <a:p>
            <a:endParaRPr lang="en-US"/>
          </a:p>
        </p:txBody>
      </p:sp>
      <p:sp>
        <p:nvSpPr>
          <p:cNvPr id="13" name="Text 11"/>
          <p:cNvSpPr/>
          <p:nvPr/>
        </p:nvSpPr>
        <p:spPr>
          <a:xfrm>
            <a:off x="6729984" y="3017520"/>
            <a:ext cx="548640" cy="457200"/>
          </a:xfrm>
          <a:prstGeom prst="rect">
            <a:avLst/>
          </a:prstGeom>
          <a:noFill/>
          <a:ln/>
        </p:spPr>
        <p:txBody>
          <a:bodyPr wrap="square" rtlCol="0" anchor="ctr"/>
          <a:lstStyle/>
          <a:p>
            <a:pPr marL="0" indent="0">
              <a:buNone/>
            </a:pPr>
            <a:r>
              <a:rPr lang="en-US" sz="2000" b="1" dirty="0">
                <a:solidFill>
                  <a:srgbClr val="6FA766"/>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6729984" y="3474720"/>
            <a:ext cx="2240280" cy="1234440"/>
          </a:xfrm>
          <a:prstGeom prst="rect">
            <a:avLst/>
          </a:prstGeom>
          <a:noFill/>
          <a:ln/>
        </p:spPr>
        <p:txBody>
          <a:bodyPr wrap="square" rtlCol="0" anchor="t"/>
          <a:lstStyle/>
          <a:p>
            <a:pPr marL="0" indent="0">
              <a:lnSpc>
                <a:spcPct val="112000"/>
              </a:lnSpc>
              <a:buNone/>
            </a:pPr>
            <a:r>
              <a:rPr lang="en-US" sz="1150" dirty="0">
                <a:solidFill>
                  <a:srgbClr val="FFFFFF"/>
                </a:solidFill>
                <a:latin typeface="Calibri" pitchFamily="34" charset="0"/>
                <a:ea typeface="Calibri" pitchFamily="34" charset="-122"/>
                <a:cs typeface="Calibri" pitchFamily="34" charset="-120"/>
              </a:rPr>
              <a:t>Fix the cost-outcome mismatch in Surgery, Oncology &amp; Orthopedics</a:t>
            </a:r>
            <a:endParaRPr lang="en-US" sz="1150" dirty="0"/>
          </a:p>
        </p:txBody>
      </p:sp>
      <p:sp>
        <p:nvSpPr>
          <p:cNvPr id="15" name="Shape 13"/>
          <p:cNvSpPr/>
          <p:nvPr/>
        </p:nvSpPr>
        <p:spPr>
          <a:xfrm>
            <a:off x="9409176" y="2880360"/>
            <a:ext cx="2606040" cy="1965960"/>
          </a:xfrm>
          <a:prstGeom prst="roundRect">
            <a:avLst>
              <a:gd name="adj" fmla="val 4651"/>
            </a:avLst>
          </a:prstGeom>
          <a:solidFill>
            <a:srgbClr val="2C5F2D"/>
          </a:solidFill>
          <a:ln/>
        </p:spPr>
        <p:txBody>
          <a:bodyPr/>
          <a:lstStyle/>
          <a:p>
            <a:endParaRPr lang="en-US"/>
          </a:p>
        </p:txBody>
      </p:sp>
      <p:sp>
        <p:nvSpPr>
          <p:cNvPr id="16" name="Text 14"/>
          <p:cNvSpPr/>
          <p:nvPr/>
        </p:nvSpPr>
        <p:spPr>
          <a:xfrm>
            <a:off x="9592056" y="3017520"/>
            <a:ext cx="548640" cy="457200"/>
          </a:xfrm>
          <a:prstGeom prst="rect">
            <a:avLst/>
          </a:prstGeom>
          <a:noFill/>
          <a:ln/>
        </p:spPr>
        <p:txBody>
          <a:bodyPr wrap="square" rtlCol="0" anchor="ctr"/>
          <a:lstStyle/>
          <a:p>
            <a:pPr marL="0" indent="0">
              <a:buNone/>
            </a:pPr>
            <a:r>
              <a:rPr lang="en-US" sz="2000" b="1" dirty="0">
                <a:solidFill>
                  <a:srgbClr val="6FA766"/>
                </a:solidFill>
                <a:latin typeface="Cambria" pitchFamily="34" charset="0"/>
                <a:ea typeface="Cambria" pitchFamily="34" charset="-122"/>
                <a:cs typeface="Cambria" pitchFamily="34" charset="-120"/>
              </a:rPr>
              <a:t>4</a:t>
            </a:r>
            <a:endParaRPr lang="en-US" sz="2000" dirty="0"/>
          </a:p>
        </p:txBody>
      </p:sp>
      <p:sp>
        <p:nvSpPr>
          <p:cNvPr id="17" name="Text 15"/>
          <p:cNvSpPr/>
          <p:nvPr/>
        </p:nvSpPr>
        <p:spPr>
          <a:xfrm>
            <a:off x="9592056" y="3474720"/>
            <a:ext cx="2240280" cy="1234440"/>
          </a:xfrm>
          <a:prstGeom prst="rect">
            <a:avLst/>
          </a:prstGeom>
          <a:noFill/>
          <a:ln/>
        </p:spPr>
        <p:txBody>
          <a:bodyPr wrap="square" rtlCol="0" anchor="t"/>
          <a:lstStyle/>
          <a:p>
            <a:pPr marL="0" indent="0">
              <a:lnSpc>
                <a:spcPct val="112000"/>
              </a:lnSpc>
              <a:buNone/>
            </a:pPr>
            <a:r>
              <a:rPr lang="en-US" sz="1150" dirty="0">
                <a:solidFill>
                  <a:srgbClr val="FFFFFF"/>
                </a:solidFill>
                <a:latin typeface="Calibri" pitchFamily="34" charset="0"/>
                <a:ea typeface="Calibri" pitchFamily="34" charset="-122"/>
                <a:cs typeface="Calibri" pitchFamily="34" charset="-120"/>
              </a:rPr>
              <a:t>Treat cost as a signal to investigate, not a proxy for quality — track cost-to-outcome monthly</a:t>
            </a:r>
            <a:endParaRPr lang="en-US" sz="1150" dirty="0"/>
          </a:p>
        </p:txBody>
      </p:sp>
      <p:sp>
        <p:nvSpPr>
          <p:cNvPr id="18" name="Text 16"/>
          <p:cNvSpPr/>
          <p:nvPr/>
        </p:nvSpPr>
        <p:spPr>
          <a:xfrm>
            <a:off x="822960" y="5166360"/>
            <a:ext cx="10241280" cy="1097280"/>
          </a:xfrm>
          <a:prstGeom prst="rect">
            <a:avLst/>
          </a:prstGeom>
          <a:noFill/>
          <a:ln/>
        </p:spPr>
        <p:txBody>
          <a:bodyPr wrap="square" rtlCol="0" anchor="t"/>
          <a:lstStyle/>
          <a:p>
            <a:pPr marL="0" indent="0">
              <a:lnSpc>
                <a:spcPct val="120000"/>
              </a:lnSpc>
              <a:buNone/>
            </a:pPr>
            <a:r>
              <a:rPr lang="en-US" sz="1300" i="1" dirty="0">
                <a:solidFill>
                  <a:srgbClr val="6FA766"/>
                </a:solidFill>
                <a:latin typeface="Calibri" pitchFamily="34" charset="0"/>
                <a:ea typeface="Calibri" pitchFamily="34" charset="-122"/>
                <a:cs typeface="Calibri" pitchFamily="34" charset="-120"/>
              </a:rPr>
              <a:t>By focusing interventions on the patient groups, months, and departments identified through the data, management can improve quality of care while reducing unnecessary hospital utilization and cost.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1347</TotalTime>
  <Words>1307</Words>
  <Application>Microsoft Office PowerPoint</Application>
  <PresentationFormat>Widescreen</PresentationFormat>
  <Paragraphs>177</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oluwafemiayodeji000@outlook.com</cp:lastModifiedBy>
  <cp:revision>1</cp:revision>
  <dcterms:created xsi:type="dcterms:W3CDTF">2026-08-10T20:34:32Z</dcterms:created>
  <dcterms:modified xsi:type="dcterms:W3CDTF">2026-08-18T12:13:51Z</dcterms:modified>
</cp:coreProperties>
</file>